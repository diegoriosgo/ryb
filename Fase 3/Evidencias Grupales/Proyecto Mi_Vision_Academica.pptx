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V++sRD/ytRgrg45rhemF0QgoK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BCD525-3A69-462D-8A8B-EE8CCFC71276}">
  <a:tblStyle styleId="{A6BCD525-3A69-462D-8A8B-EE8CCFC712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 b="1">
                <a:solidFill>
                  <a:schemeClr val="dk1"/>
                </a:solidFill>
              </a:rPr>
              <a:t>✔ Ingreso, rentabilidad y división por socios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Si el proyecto se vende en: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 </a:t>
            </a:r>
            <a:r>
              <a:rPr lang="es-CL" b="1">
                <a:solidFill>
                  <a:schemeClr val="dk1"/>
                </a:solidFill>
              </a:rPr>
              <a:t>$35.000.000 CLP</a:t>
            </a:r>
            <a:r>
              <a:rPr lang="es-CL">
                <a:solidFill>
                  <a:schemeClr val="dk1"/>
                </a:solidFill>
              </a:rPr>
              <a:t> (valor razonable para SaaS educativo institucional)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b="1">
                <a:solidFill>
                  <a:schemeClr val="dk1"/>
                </a:solidFill>
              </a:rPr>
              <a:t>Utilidad:</a:t>
            </a:r>
            <a:br>
              <a:rPr lang="es-CL" b="1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 35.000.000 − 22.665.000 = </a:t>
            </a:r>
            <a:r>
              <a:rPr lang="es-CL" b="1">
                <a:solidFill>
                  <a:schemeClr val="dk1"/>
                </a:solidFill>
              </a:rPr>
              <a:t>12.335.000 CLP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b="1">
                <a:solidFill>
                  <a:schemeClr val="dk1"/>
                </a:solidFill>
              </a:rPr>
              <a:t>Utilidad por socio (2):</a:t>
            </a:r>
            <a:br>
              <a:rPr lang="es-CL" b="1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 = </a:t>
            </a:r>
            <a:r>
              <a:rPr lang="es-CL" b="1">
                <a:solidFill>
                  <a:schemeClr val="dk1"/>
                </a:solidFill>
              </a:rPr>
              <a:t>$6.167.500 CLP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11343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 descr="Imagen que contiene Icon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7864" y="3252205"/>
            <a:ext cx="2176272" cy="2176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121026" y="1802226"/>
            <a:ext cx="7633624" cy="4258084"/>
            <a:chOff x="0" y="91407"/>
            <a:chExt cx="7633624" cy="4258084"/>
          </a:xfrm>
        </p:grpSpPr>
        <p:sp>
          <p:nvSpPr>
            <p:cNvPr id="93" name="Google Shape;93;p2"/>
            <p:cNvSpPr/>
            <p:nvPr/>
          </p:nvSpPr>
          <p:spPr>
            <a:xfrm>
              <a:off x="0" y="91442"/>
              <a:ext cx="7633494" cy="2071186"/>
            </a:xfrm>
            <a:prstGeom prst="roundRect">
              <a:avLst>
                <a:gd name="adj" fmla="val 10000"/>
              </a:avLst>
            </a:prstGeom>
            <a:solidFill>
              <a:srgbClr val="815CD2"/>
            </a:solidFill>
            <a:ln w="9525" cap="flat" cmpd="sng">
              <a:solidFill>
                <a:srgbClr val="9C7FDC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733824" y="91407"/>
              <a:ext cx="5899800" cy="21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CL" sz="4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</a:t>
              </a:r>
              <a:r>
                <a:rPr lang="es-CL" sz="4000" b="0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Rios</a:t>
              </a:r>
              <a:endParaRPr sz="4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1" indent="-215900" algn="l" rtl="0">
                <a:lnSpc>
                  <a:spcPct val="90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1" indent="-203200" algn="l" rtl="0">
                <a:lnSpc>
                  <a:spcPct val="90000"/>
                </a:lnSpc>
                <a:spcBef>
                  <a:spcPts val="46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Responsable de la planificación y ejecución del proyecto, </a:t>
              </a:r>
              <a:r>
                <a:rPr lang="es-CL" sz="18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</a:t>
              </a:r>
              <a:r>
                <a:rPr lang="es-CL" sz="1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la plataforma, coordinación del equipo de trabajo, seguimiento del cronograma</a:t>
              </a: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07118" y="207118"/>
              <a:ext cx="1526698" cy="1656949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278305"/>
              <a:ext cx="7633494" cy="2071186"/>
            </a:xfrm>
            <a:prstGeom prst="roundRect">
              <a:avLst>
                <a:gd name="adj" fmla="val 10000"/>
              </a:avLst>
            </a:prstGeom>
            <a:solidFill>
              <a:srgbClr val="9C7FDC"/>
            </a:solidFill>
            <a:ln w="9525" cap="flat" cmpd="sng">
              <a:solidFill>
                <a:srgbClr val="9C7FDC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733817" y="2278305"/>
              <a:ext cx="5899676" cy="2071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CL" sz="4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Geraldine </a:t>
              </a:r>
              <a:r>
                <a:rPr lang="es-CL" sz="4000" b="0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Bastias</a:t>
              </a:r>
              <a:endParaRPr sz="4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1" indent="-215900" algn="l" rtl="0">
                <a:lnSpc>
                  <a:spcPct val="90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</a:t>
              </a:r>
              <a:r>
                <a:rPr lang="es-CL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CL" sz="2000" b="0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Owner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marR="0" lvl="1" indent="-203200" algn="l" rtl="0">
                <a:lnSpc>
                  <a:spcPct val="90000"/>
                </a:lnSpc>
                <a:spcBef>
                  <a:spcPts val="46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del </a:t>
              </a:r>
              <a:r>
                <a:rPr lang="es-CL" sz="18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</a:t>
              </a:r>
              <a:r>
                <a:rPr lang="es-CL" sz="1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implementación de las funcionalidades usando Python, </a:t>
              </a:r>
              <a:r>
                <a:rPr lang="es-CL" sz="18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Django,además</a:t>
              </a:r>
              <a:r>
                <a:rPr lang="es-CL" sz="1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los registros de “</a:t>
              </a:r>
              <a:r>
                <a:rPr lang="es-CL" sz="18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Dailys</a:t>
              </a:r>
              <a:r>
                <a:rPr lang="es-CL" sz="18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”</a:t>
              </a: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07118" y="2485423"/>
              <a:ext cx="1526698" cy="1656949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0" y="9027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" name="Google Shape;110;p3"/>
          <p:cNvSpPr/>
          <p:nvPr/>
        </p:nvSpPr>
        <p:spPr>
          <a:xfrm>
            <a:off x="257850" y="1693975"/>
            <a:ext cx="5204700" cy="49353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estudiantes no cuentan con un espacio que muestre su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 académico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forma clara y analítica.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retroalimentación docente es limitada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poco personalizada y no queda registrada.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existe una herramienta institucional que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calificaciones, preferencias del estudiante y orientación experta.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alumnos no tienen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claridad sobre qué especialización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elegir ni qué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habilidades deben reforzar.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toma de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decisiones académicas se basa más en intuición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en datos.</a:t>
            </a:r>
            <a:endParaRPr sz="1800">
              <a:solidFill>
                <a:schemeClr val="dk1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708875" y="1701650"/>
            <a:ext cx="5204700" cy="49353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una plataforma web educativa que: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Analice automáticamente las calificaciones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estudiante.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Genere gráficos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avanzados comparativos por área, asignatura y semestre.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alumno–docente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retroalimentaciones personalizadas.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Incluya un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de intereses vocacionales.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Utilice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 para generar un informe integral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Fortalezas y debilidades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Recomendaciones académicas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Sugerencias de recursos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Posibles áreas laborales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Consejos para mejorar el rendimiento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626101" y="3736258"/>
            <a:ext cx="1052714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7FDC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0" y="119357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4"/>
          <p:cNvSpPr txBox="1"/>
          <p:nvPr/>
        </p:nvSpPr>
        <p:spPr>
          <a:xfrm>
            <a:off x="-24" y="37654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25" y="1840076"/>
            <a:ext cx="10962900" cy="1775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entregue a los estudiantes un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académico integral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mediante gráficos, retroalimentación docente, test de intereses y un informe inteligente generado con IA, para apoyar la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decisiones educativas y laborales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25" y="4561675"/>
            <a:ext cx="10962900" cy="2159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la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carga automática de calificaciones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certificado oficial de Duoc UC.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Visualizar el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 con gráficos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asignatura, área y semestre.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Habilitar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solicitudes y respuestas de retroalimentación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docentes y estudiantes.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de intereses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integrado al perfil del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una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 analista educativa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produzca un reporte personalizado en PDF.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Almacenar informes para mantener un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historial evolutivo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estudiante.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0" y="11407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2" name="Google Shape;132;p5"/>
          <p:cNvSpPr/>
          <p:nvPr/>
        </p:nvSpPr>
        <p:spPr>
          <a:xfrm>
            <a:off x="511699" y="2169775"/>
            <a:ext cx="5467500" cy="44595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2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MVP funcional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todas las características principales.</a:t>
            </a:r>
            <a:endParaRPr sz="1800" b="1">
              <a:solidFill>
                <a:schemeClr val="dk1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de estudiante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gráficos, test, retroalimentaciones y generación de informes.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de docente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gestión completa de solicitudes y generación de retroalimentaciones.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IA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informes generados desde los datos reales del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nube mediante Vercel.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base de datos de Supabase.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Carga de asignaturas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desde CSV con validación de formato.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242849" y="2177325"/>
            <a:ext cx="5467500" cy="44595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integración automática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r; requiere carga manual vía CSV y certificado.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 avanzada pendiente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modelo de IA puede tener limitaciones según el volumen de datos.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del Analisís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precisión del análisis depende de la información proporcionada por el estudiante.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implementó un prototipo (MVP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 no es aún un sistema institucional.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0" y="10543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" name="Google Shape;142;p6"/>
          <p:cNvSpPr/>
          <p:nvPr/>
        </p:nvSpPr>
        <p:spPr>
          <a:xfrm>
            <a:off x="614515" y="1762196"/>
            <a:ext cx="10962967" cy="88042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 Híbrido </a:t>
            </a: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teniendo en cuenta la combinación de metodologías Ágil y Tradicional.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11709" y="2782325"/>
            <a:ext cx="5001479" cy="35687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Tradicional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(Inicio y Cierre del proyecto)</a:t>
            </a:r>
            <a:endParaRPr sz="2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utilizó en la </a:t>
            </a: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inicial</a:t>
            </a: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la planificación del alcance, cronograma, posibles riesgos, costos y calidad.</a:t>
            </a:r>
            <a:b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en la </a:t>
            </a: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final</a:t>
            </a: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la validación, entrega oficial y cierre administrativo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708879" y="2789881"/>
            <a:ext cx="5001479" cy="35687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(Desarrollo)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Aplicada durante la </a:t>
            </a: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 del MVP.</a:t>
            </a:r>
            <a:b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Trabajo en </a:t>
            </a: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ciclos cortos</a:t>
            </a: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reuniones diarias, retrospectivas y demos incrementales.</a:t>
            </a:r>
            <a:b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Permitió </a:t>
            </a: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flexibilidad y adaptación rápida</a:t>
            </a: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cambios y retroalimentación de usuarios.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5745825" y="1421400"/>
            <a:ext cx="6136500" cy="55083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17200" y="1421400"/>
            <a:ext cx="4085700" cy="49341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" y="77780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0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55" name="Google Shape;155;p7"/>
          <p:cNvGraphicFramePr/>
          <p:nvPr/>
        </p:nvGraphicFramePr>
        <p:xfrm>
          <a:off x="759613" y="256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{A6BCD525-3A69-462D-8A8B-EE8CCFC71276}</a:tableStyleId>
              </a:tblPr>
              <a:tblGrid>
                <a:gridCol w="155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2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3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6" name="Google Shape;156;p7"/>
          <p:cNvGraphicFramePr/>
          <p:nvPr/>
        </p:nvGraphicFramePr>
        <p:xfrm>
          <a:off x="5941393" y="19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{A6BCD525-3A69-462D-8A8B-EE8CCFC71276}</a:tableStyleId>
              </a:tblPr>
              <a:tblGrid>
                <a:gridCol w="367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Ejecución (Ágil – Iterativa)</a:t>
                      </a:r>
                      <a:endParaRPr sz="15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3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16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 — Entorno, estructura base y carga inicial de datos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3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5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2 — Notas, gráficos y panel del estudiante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5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8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 — Test de interés + IA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8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11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4 — Módulo Docente y PDF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11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13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5 — Retroalimentaciones, dashboard final y pulido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13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16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7" name="Google Shape;157;p7"/>
          <p:cNvGraphicFramePr/>
          <p:nvPr/>
        </p:nvGraphicFramePr>
        <p:xfrm>
          <a:off x="713238" y="437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{A6BCD525-3A69-462D-8A8B-EE8CCFC71276}</a:tableStyleId>
              </a:tblPr>
              <a:tblGrid>
                <a:gridCol w="164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Monitoreo y Control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7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17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Cierre</a:t>
                      </a:r>
                      <a:endParaRPr sz="15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15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18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8" name="Google Shape;158;p7"/>
          <p:cNvGraphicFramePr/>
          <p:nvPr/>
        </p:nvGraphicFramePr>
        <p:xfrm>
          <a:off x="5941393" y="482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{A6BCD525-3A69-462D-8A8B-EE8CCFC71276}</a:tableStyleId>
              </a:tblPr>
              <a:tblGrid>
                <a:gridCol w="367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</a:t>
                      </a:r>
                      <a:endParaRPr sz="1500"/>
                    </a:p>
                  </a:txBody>
                  <a:tcPr marL="91425" marR="91425" marT="91425" marB="91425"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 Ágiles continuas dentro de Ejecucion</a:t>
                      </a:r>
                      <a:endParaRPr sz="15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2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17</a:t>
                      </a:r>
                      <a:endParaRPr sz="1500"/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Reuniones Daily y seguimiento</a:t>
                      </a:r>
                      <a:endParaRPr sz="15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2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17</a:t>
                      </a:r>
                      <a:endParaRPr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Revisión técnica y retrospectivas</a:t>
                      </a:r>
                      <a:endParaRPr sz="15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Cada 3 semanas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Demos incrementales (Sprint Reviews)</a:t>
                      </a:r>
                      <a:endParaRPr sz="15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8 / 11 / 16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p7"/>
          <p:cNvSpPr txBox="1"/>
          <p:nvPr/>
        </p:nvSpPr>
        <p:spPr>
          <a:xfrm>
            <a:off x="675700" y="1421400"/>
            <a:ext cx="378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Tradicional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 rot="273">
            <a:off x="6920687" y="1421399"/>
            <a:ext cx="378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" name="Google Shape;169;p8"/>
          <p:cNvSpPr/>
          <p:nvPr/>
        </p:nvSpPr>
        <p:spPr>
          <a:xfrm>
            <a:off x="332325" y="1801975"/>
            <a:ext cx="5390700" cy="4395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reales del MVP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total estimado: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$3.840.000 CLP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por estudiante: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$1.920.000 CLP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 principal: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1371600" marR="0" lvl="1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$8.000 CLP por hora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1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Horas totales estimadas del MVP: 240 horas por persona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1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horas del equipo: 480 horas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480 h × $8.000 CLP/h = $3.840.000 CLP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392275" y="1801975"/>
            <a:ext cx="5390700" cy="4395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desarrollo real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total estimado: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$22.665.000 CLP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de personal (3 meses):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$21.600.000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Infraestructura (3 meses)</a:t>
            </a:r>
            <a:r>
              <a:rPr lang="es-CL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1371600" marR="0" lvl="1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Vercel Pro ($25.000 CLP / mes)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1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Pro ($40.000 CLP / mes)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API ($150.000 CLP mensual)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Team ($40.000 CLP / mes)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$765.000 CLP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costos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$300.000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9" name="Google Shape;179;p9" title="UML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0388" y="1555350"/>
            <a:ext cx="6423587" cy="52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1" y="8461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8" name="Google Shape;188;p10"/>
          <p:cNvSpPr/>
          <p:nvPr/>
        </p:nvSpPr>
        <p:spPr>
          <a:xfrm>
            <a:off x="208300" y="1661325"/>
            <a:ext cx="7722600" cy="4972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Usuario:</a:t>
            </a:r>
            <a:r>
              <a:rPr lang="es-CL" sz="1700">
                <a:solidFill>
                  <a:schemeClr val="dk1"/>
                </a:solidFill>
              </a:rPr>
              <a:t> base para autenticación y gestión de perfiles.</a:t>
            </a:r>
            <a:br>
              <a:rPr lang="es-CL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Estudiante / Docente:</a:t>
            </a:r>
            <a:r>
              <a:rPr lang="es-CL" sz="1700">
                <a:solidFill>
                  <a:schemeClr val="dk1"/>
                </a:solidFill>
              </a:rPr>
              <a:t> extensión del usuario según rol.</a:t>
            </a:r>
            <a:br>
              <a:rPr lang="es-CL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Asignaturas y Notas:</a:t>
            </a:r>
            <a:r>
              <a:rPr lang="es-CL" sz="1700">
                <a:solidFill>
                  <a:schemeClr val="dk1"/>
                </a:solidFill>
              </a:rPr>
              <a:t> base para análisis y generación de gráficos.</a:t>
            </a:r>
            <a:br>
              <a:rPr lang="es-CL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PDF de Notas:</a:t>
            </a:r>
            <a:r>
              <a:rPr lang="es-CL" sz="1700">
                <a:solidFill>
                  <a:schemeClr val="dk1"/>
                </a:solidFill>
              </a:rPr>
              <a:t> almacenamiento del certificado oficial subido.</a:t>
            </a:r>
            <a:br>
              <a:rPr lang="es-CL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Test de Interés:</a:t>
            </a:r>
            <a:r>
              <a:rPr lang="es-CL" sz="1700">
                <a:solidFill>
                  <a:schemeClr val="dk1"/>
                </a:solidFill>
              </a:rPr>
              <a:t> información vocacional del estudiante.</a:t>
            </a:r>
            <a:br>
              <a:rPr lang="es-CL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Solicitudes de Retroalimentación:</a:t>
            </a:r>
            <a:r>
              <a:rPr lang="es-CL" sz="1700">
                <a:solidFill>
                  <a:schemeClr val="dk1"/>
                </a:solidFill>
              </a:rPr>
              <a:t> comunicación alumno–docente.</a:t>
            </a:r>
            <a:br>
              <a:rPr lang="es-CL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Comentarios Docentes:</a:t>
            </a:r>
            <a:r>
              <a:rPr lang="es-CL" sz="1700">
                <a:solidFill>
                  <a:schemeClr val="dk1"/>
                </a:solidFill>
              </a:rPr>
              <a:t> apoyo escrito del docente de forma libre.</a:t>
            </a:r>
            <a:br>
              <a:rPr lang="es-CL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 b="1">
                <a:solidFill>
                  <a:schemeClr val="dk1"/>
                </a:solidFill>
              </a:rPr>
              <a:t>Reportes IA:</a:t>
            </a:r>
            <a:r>
              <a:rPr lang="es-CL" sz="1700">
                <a:solidFill>
                  <a:schemeClr val="dk1"/>
                </a:solidFill>
              </a:rPr>
              <a:t> informes generados automáticamente por la inteligencia artificial.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050750" y="2039475"/>
            <a:ext cx="4277400" cy="4216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>
                <a:solidFill>
                  <a:schemeClr val="dk1"/>
                </a:solidFill>
              </a:rPr>
              <a:t>Principales relaciones:</a:t>
            </a:r>
            <a:endParaRPr sz="1700" b="1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1700">
                <a:solidFill>
                  <a:schemeClr val="dk1"/>
                </a:solidFill>
              </a:rPr>
              <a:t>1 estudiante → muchas notas, tests, solicitudes, comentarios y reportes.</a:t>
            </a:r>
            <a:endParaRPr sz="17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1700">
                <a:solidFill>
                  <a:schemeClr val="dk1"/>
                </a:solidFill>
              </a:rPr>
              <a:t>1 docente → muchos comentarios y retroalimentaciones.</a:t>
            </a:r>
            <a:endParaRPr sz="17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1700">
                <a:solidFill>
                  <a:schemeClr val="dk1"/>
                </a:solidFill>
              </a:rPr>
              <a:t>1 asignatura → muchas notas y comentarios.</a:t>
            </a:r>
            <a:endParaRPr sz="24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-24" y="936867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" name="Google Shape;198;p11"/>
          <p:cNvSpPr/>
          <p:nvPr/>
        </p:nvSpPr>
        <p:spPr>
          <a:xfrm>
            <a:off x="614525" y="1762200"/>
            <a:ext cx="5136600" cy="453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</a:rPr>
              <a:t>Frontend</a:t>
            </a:r>
            <a:endParaRPr sz="1800" b="1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HTML5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CSS3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Bootstrap 5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Chart.js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SweetAlert2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JavaScript</a:t>
            </a:r>
            <a:br>
              <a:rPr lang="es-CL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</a:rPr>
              <a:t>Backend</a:t>
            </a:r>
            <a:endParaRPr sz="1800" b="1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Django (Python)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Arquitectura MTV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IA (Mistral 7B)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448925" y="1782000"/>
            <a:ext cx="5136600" cy="453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</a:rPr>
              <a:t>Base de Datos y Servicios</a:t>
            </a:r>
            <a:endParaRPr sz="1800" b="1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Supabase (PostgreSQL)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API Supabase Python Client</a:t>
            </a:r>
            <a:br>
              <a:rPr lang="es-CL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</a:rPr>
              <a:t>Deployment</a:t>
            </a:r>
            <a:endParaRPr sz="1800" b="1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Vercel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</a:rPr>
              <a:t>Herramientas de apoyo</a:t>
            </a:r>
            <a:endParaRPr sz="1800" b="1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GitHub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Planner (gestión ágil)</a:t>
            </a:r>
            <a:endParaRPr sz="1800">
              <a:solidFill>
                <a:schemeClr val="dk1"/>
              </a:solidFill>
            </a:endParaRPr>
          </a:p>
          <a:p>
            <a:pPr marL="9144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Miro(diagramas)</a:t>
            </a:r>
            <a:br>
              <a:rPr lang="es-CL" sz="1800">
                <a:solidFill>
                  <a:schemeClr val="dk1"/>
                </a:solidFill>
              </a:rPr>
            </a:b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 txBox="1"/>
          <p:nvPr/>
        </p:nvSpPr>
        <p:spPr>
          <a:xfrm>
            <a:off x="1" y="805220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450475" y="1891625"/>
            <a:ext cx="5063700" cy="4272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Panel </a:t>
            </a:r>
            <a:r>
              <a:rPr lang="es-CL" sz="1800" b="1">
                <a:solidFill>
                  <a:schemeClr val="dk1"/>
                </a:solidFill>
              </a:rPr>
              <a:t>docente </a:t>
            </a:r>
            <a:r>
              <a:rPr lang="es-CL" sz="1800">
                <a:solidFill>
                  <a:schemeClr val="dk1"/>
                </a:solidFill>
              </a:rPr>
              <a:t>robusto con </a:t>
            </a:r>
            <a:r>
              <a:rPr lang="es-CL" sz="1800" b="1">
                <a:solidFill>
                  <a:schemeClr val="dk1"/>
                </a:solidFill>
              </a:rPr>
              <a:t>gestión de retroalimentaciones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Plataforma </a:t>
            </a:r>
            <a:r>
              <a:rPr lang="es-CL" sz="1800" b="1">
                <a:solidFill>
                  <a:schemeClr val="dk1"/>
                </a:solidFill>
              </a:rPr>
              <a:t>desplegada en la nube.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Panel de administración para </a:t>
            </a:r>
            <a:r>
              <a:rPr lang="es-CL" sz="1800" b="1">
                <a:solidFill>
                  <a:schemeClr val="dk1"/>
                </a:solidFill>
              </a:rPr>
              <a:t>gestionar asignaturas vía CSV.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Interfaz </a:t>
            </a:r>
            <a:r>
              <a:rPr lang="es-CL" sz="1800">
                <a:solidFill>
                  <a:schemeClr val="dk1"/>
                </a:solidFill>
              </a:rPr>
              <a:t>moderna, clara y </a:t>
            </a:r>
            <a:r>
              <a:rPr lang="es-CL" sz="1800" b="1">
                <a:solidFill>
                  <a:schemeClr val="dk1"/>
                </a:solidFill>
              </a:rPr>
              <a:t>adaptada al usuario.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Autenticación y seguridad</a:t>
            </a:r>
            <a:r>
              <a:rPr lang="es-CL" sz="1800">
                <a:solidFill>
                  <a:schemeClr val="dk1"/>
                </a:solidFill>
              </a:rPr>
              <a:t> mediante sesiones.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Documentación </a:t>
            </a:r>
            <a:r>
              <a:rPr lang="es-CL" sz="1800">
                <a:solidFill>
                  <a:schemeClr val="dk1"/>
                </a:solidFill>
              </a:rPr>
              <a:t>completa y actualizada </a:t>
            </a:r>
            <a:r>
              <a:rPr lang="es-CL" sz="1800" b="1">
                <a:solidFill>
                  <a:schemeClr val="dk1"/>
                </a:solidFill>
              </a:rPr>
              <a:t>bajo metodología híbrida.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1066800" y="1891650"/>
            <a:ext cx="5063700" cy="4272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MVP</a:t>
            </a:r>
            <a:r>
              <a:rPr lang="es-CL" sz="1800">
                <a:solidFill>
                  <a:schemeClr val="dk1"/>
                </a:solidFill>
              </a:rPr>
              <a:t> completamente </a:t>
            </a:r>
            <a:r>
              <a:rPr lang="es-CL" sz="1800" b="1">
                <a:solidFill>
                  <a:schemeClr val="dk1"/>
                </a:solidFill>
              </a:rPr>
              <a:t>funcional.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Carga automática de notas</a:t>
            </a:r>
            <a:r>
              <a:rPr lang="es-CL" sz="1800">
                <a:solidFill>
                  <a:schemeClr val="dk1"/>
                </a:solidFill>
              </a:rPr>
              <a:t> desde certificado oficial.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Gráficos avanzados de rendimiento </a:t>
            </a:r>
            <a:r>
              <a:rPr lang="es-CL" sz="1800">
                <a:solidFill>
                  <a:schemeClr val="dk1"/>
                </a:solidFill>
              </a:rPr>
              <a:t>académico.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Comunicación efectiva entre estudiante y docente.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Test de intereses</a:t>
            </a:r>
            <a:r>
              <a:rPr lang="es-CL" sz="1800">
                <a:solidFill>
                  <a:schemeClr val="dk1"/>
                </a:solidFill>
              </a:rPr>
              <a:t> operativo y almacenado.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>
                <a:solidFill>
                  <a:schemeClr val="dk1"/>
                </a:solidFill>
              </a:rPr>
              <a:t>Generación de </a:t>
            </a:r>
            <a:r>
              <a:rPr lang="es-CL" sz="1800" b="1">
                <a:solidFill>
                  <a:schemeClr val="dk1"/>
                </a:solidFill>
              </a:rPr>
              <a:t>informes inteligentes con IA.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CL" sz="1800" b="1">
                <a:solidFill>
                  <a:schemeClr val="dk1"/>
                </a:solidFill>
              </a:rPr>
              <a:t>Historial de informes evolucionando con el estudiante.</a:t>
            </a:r>
            <a:endParaRPr sz="25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614515" y="2298700"/>
            <a:ext cx="10962967" cy="3314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9C7FD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del certificado de notas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formatos variados.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limitado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implementar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algoritmos más avanzados.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IA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avanzada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generar informes consistentes.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gratuito de hosting.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</a:t>
            </a: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directa con sistemas institucionales.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1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</Words>
  <Application>Microsoft Office PowerPoint</Application>
  <PresentationFormat>Panorámica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Barlow Semi Condensed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Megumi .</cp:lastModifiedBy>
  <cp:revision>1</cp:revision>
  <dcterms:created xsi:type="dcterms:W3CDTF">2023-10-28T21:12:11Z</dcterms:created>
  <dcterms:modified xsi:type="dcterms:W3CDTF">2025-11-21T11:54:21Z</dcterms:modified>
</cp:coreProperties>
</file>