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Overpass Black"/>
      <p:bold r:id="rId21"/>
      <p:boldItalic r:id="rId22"/>
    </p:embeddedFont>
    <p:embeddedFont>
      <p:font typeface="Poppins SemiBold"/>
      <p:regular r:id="rId23"/>
      <p:bold r:id="rId24"/>
      <p:italic r:id="rId25"/>
      <p:boldItalic r:id="rId26"/>
    </p:embeddedFont>
    <p:embeddedFont>
      <p:font typeface="DM Sans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hW9+Ays3K4gARt4aWaHTS5qNbe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OverpassBlack-boldItalic.fntdata"/><Relationship Id="rId21" Type="http://schemas.openxmlformats.org/officeDocument/2006/relationships/font" Target="fonts/OverpassBlack-bold.fntdata"/><Relationship Id="rId24" Type="http://schemas.openxmlformats.org/officeDocument/2006/relationships/font" Target="fonts/PoppinsSemiBold-bold.fntdata"/><Relationship Id="rId23" Type="http://schemas.openxmlformats.org/officeDocument/2006/relationships/font" Target="fonts/PoppinsSemiBold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SemiBold-boldItalic.fntdata"/><Relationship Id="rId25" Type="http://schemas.openxmlformats.org/officeDocument/2006/relationships/font" Target="fonts/PoppinsSemiBold-italic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penSans-regular.fntdata"/><Relationship Id="rId30" Type="http://schemas.openxmlformats.org/officeDocument/2006/relationships/font" Target="fonts/DMSans-boldItalic.fntdata"/><Relationship Id="rId11" Type="http://schemas.openxmlformats.org/officeDocument/2006/relationships/slide" Target="slides/slide7.xml"/><Relationship Id="rId33" Type="http://schemas.openxmlformats.org/officeDocument/2006/relationships/font" Target="fonts/OpenSans-italic.fntdata"/><Relationship Id="rId10" Type="http://schemas.openxmlformats.org/officeDocument/2006/relationships/slide" Target="slides/slide6.xml"/><Relationship Id="rId32" Type="http://schemas.openxmlformats.org/officeDocument/2006/relationships/font" Target="fonts/OpenSans-bold.fntdata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19"/>
          <p:cNvGrpSpPr/>
          <p:nvPr/>
        </p:nvGrpSpPr>
        <p:grpSpPr>
          <a:xfrm>
            <a:off x="-4497623" y="-3443479"/>
            <a:ext cx="6732600" cy="6972879"/>
            <a:chOff x="-4497623" y="-3443479"/>
            <a:chExt cx="6732600" cy="6972879"/>
          </a:xfrm>
        </p:grpSpPr>
        <p:pic>
          <p:nvPicPr>
            <p:cNvPr id="10" name="Google Shape;10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4497623" y="-3443479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11" name="Google Shape;1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8100000">
              <a:off x="-463750" y="2302414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19"/>
          <p:cNvSpPr txBox="1"/>
          <p:nvPr>
            <p:ph type="ctrTitle"/>
          </p:nvPr>
        </p:nvSpPr>
        <p:spPr>
          <a:xfrm>
            <a:off x="1018275" y="1145816"/>
            <a:ext cx="3654000" cy="24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4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018263" y="3693801"/>
            <a:ext cx="27015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22"/>
          <p:cNvGrpSpPr/>
          <p:nvPr/>
        </p:nvGrpSpPr>
        <p:grpSpPr>
          <a:xfrm>
            <a:off x="-4648473" y="-2179137"/>
            <a:ext cx="19540412" cy="11321350"/>
            <a:chOff x="-4648473" y="-2179137"/>
            <a:chExt cx="19540412" cy="11321350"/>
          </a:xfrm>
        </p:grpSpPr>
        <p:pic>
          <p:nvPicPr>
            <p:cNvPr id="16" name="Google Shape;16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4648473" y="2328613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17" name="Google Shape;17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8159339" y="-2179137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pic>
        <p:nvPicPr>
          <p:cNvPr id="18" name="Google Shape;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92175" y="1219147"/>
            <a:ext cx="1536176" cy="734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22"/>
          <p:cNvGrpSpPr/>
          <p:nvPr/>
        </p:nvGrpSpPr>
        <p:grpSpPr>
          <a:xfrm>
            <a:off x="1916046" y="-700005"/>
            <a:ext cx="7141750" cy="6567031"/>
            <a:chOff x="1964892" y="-700005"/>
            <a:chExt cx="7141750" cy="6567031"/>
          </a:xfrm>
        </p:grpSpPr>
        <p:pic>
          <p:nvPicPr>
            <p:cNvPr id="20" name="Google Shape;2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2700000">
              <a:off x="8142184" y="-643272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8100000">
              <a:off x="2284152" y="4640041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713225" y="1979850"/>
            <a:ext cx="3858600" cy="16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Light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 sz="1200"/>
            </a:lvl9pPr>
          </a:lstStyle>
          <a:p/>
        </p:txBody>
      </p:sp>
      <p:sp>
        <p:nvSpPr>
          <p:cNvPr id="23" name="Google Shape;23;p22"/>
          <p:cNvSpPr txBox="1"/>
          <p:nvPr>
            <p:ph type="title"/>
          </p:nvPr>
        </p:nvSpPr>
        <p:spPr>
          <a:xfrm>
            <a:off x="713225" y="1273917"/>
            <a:ext cx="38586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4" name="Google Shape;24;p22"/>
          <p:cNvSpPr/>
          <p:nvPr>
            <p:ph idx="2" type="pic"/>
          </p:nvPr>
        </p:nvSpPr>
        <p:spPr>
          <a:xfrm>
            <a:off x="5186475" y="913701"/>
            <a:ext cx="2916300" cy="33162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21"/>
          <p:cNvGrpSpPr/>
          <p:nvPr/>
        </p:nvGrpSpPr>
        <p:grpSpPr>
          <a:xfrm flipH="1">
            <a:off x="-5715272" y="-2179137"/>
            <a:ext cx="19540412" cy="11321350"/>
            <a:chOff x="-4648473" y="-2179137"/>
            <a:chExt cx="19540412" cy="11321350"/>
          </a:xfrm>
        </p:grpSpPr>
        <p:pic>
          <p:nvPicPr>
            <p:cNvPr id="27" name="Google Shape;27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4648473" y="2328613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28" name="Google Shape;28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8159339" y="-2179137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pic>
        <p:nvPicPr>
          <p:cNvPr id="29" name="Google Shape;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8632664" y="457147"/>
            <a:ext cx="1536176" cy="734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" name="Google Shape;30;p21"/>
          <p:cNvGrpSpPr/>
          <p:nvPr/>
        </p:nvGrpSpPr>
        <p:grpSpPr>
          <a:xfrm flipH="1">
            <a:off x="118868" y="-700005"/>
            <a:ext cx="7141750" cy="6530396"/>
            <a:chOff x="1964892" y="-700005"/>
            <a:chExt cx="7141750" cy="6530396"/>
          </a:xfrm>
        </p:grpSpPr>
        <p:pic>
          <p:nvPicPr>
            <p:cNvPr id="31" name="Google Shape;31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2700000">
              <a:off x="8142184" y="-643272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8100000">
              <a:off x="2284152" y="4603406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" name="Google Shape;33;p21"/>
          <p:cNvSpPr txBox="1"/>
          <p:nvPr>
            <p:ph type="title"/>
          </p:nvPr>
        </p:nvSpPr>
        <p:spPr>
          <a:xfrm>
            <a:off x="713225" y="521225"/>
            <a:ext cx="7717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2" type="title"/>
          </p:nvPr>
        </p:nvSpPr>
        <p:spPr>
          <a:xfrm>
            <a:off x="1167787" y="1566654"/>
            <a:ext cx="581700" cy="581700"/>
          </a:xfrm>
          <a:prstGeom prst="rect">
            <a:avLst/>
          </a:prstGeom>
          <a:solidFill>
            <a:srgbClr val="9B97E1">
              <a:alpha val="12549"/>
            </a:srgbClr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21"/>
          <p:cNvSpPr txBox="1"/>
          <p:nvPr>
            <p:ph idx="1" type="subTitle"/>
          </p:nvPr>
        </p:nvSpPr>
        <p:spPr>
          <a:xfrm>
            <a:off x="1069952" y="2300839"/>
            <a:ext cx="22962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6" name="Google Shape;36;p21"/>
          <p:cNvSpPr txBox="1"/>
          <p:nvPr>
            <p:ph idx="3" type="title"/>
          </p:nvPr>
        </p:nvSpPr>
        <p:spPr>
          <a:xfrm>
            <a:off x="3659012" y="1566654"/>
            <a:ext cx="581700" cy="581700"/>
          </a:xfrm>
          <a:prstGeom prst="rect">
            <a:avLst/>
          </a:prstGeom>
          <a:solidFill>
            <a:srgbClr val="9B97E1">
              <a:alpha val="12549"/>
            </a:srgbClr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" name="Google Shape;37;p21"/>
          <p:cNvSpPr txBox="1"/>
          <p:nvPr>
            <p:ph idx="4" type="subTitle"/>
          </p:nvPr>
        </p:nvSpPr>
        <p:spPr>
          <a:xfrm>
            <a:off x="3561177" y="2300839"/>
            <a:ext cx="22962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8" name="Google Shape;38;p21"/>
          <p:cNvSpPr txBox="1"/>
          <p:nvPr>
            <p:ph idx="5" type="title"/>
          </p:nvPr>
        </p:nvSpPr>
        <p:spPr>
          <a:xfrm>
            <a:off x="6150237" y="1566654"/>
            <a:ext cx="581700" cy="581700"/>
          </a:xfrm>
          <a:prstGeom prst="rect">
            <a:avLst/>
          </a:prstGeom>
          <a:solidFill>
            <a:srgbClr val="9B97E1">
              <a:alpha val="12549"/>
            </a:srgbClr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" name="Google Shape;39;p21"/>
          <p:cNvSpPr txBox="1"/>
          <p:nvPr>
            <p:ph idx="6" type="subTitle"/>
          </p:nvPr>
        </p:nvSpPr>
        <p:spPr>
          <a:xfrm>
            <a:off x="6052402" y="2300839"/>
            <a:ext cx="22962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0" name="Google Shape;40;p21"/>
          <p:cNvSpPr txBox="1"/>
          <p:nvPr>
            <p:ph idx="7" type="title"/>
          </p:nvPr>
        </p:nvSpPr>
        <p:spPr>
          <a:xfrm>
            <a:off x="1167767" y="3127126"/>
            <a:ext cx="581700" cy="581700"/>
          </a:xfrm>
          <a:prstGeom prst="rect">
            <a:avLst/>
          </a:prstGeom>
          <a:solidFill>
            <a:srgbClr val="9B97E1">
              <a:alpha val="12549"/>
            </a:srgbClr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" name="Google Shape;41;p21"/>
          <p:cNvSpPr txBox="1"/>
          <p:nvPr>
            <p:ph idx="8" type="subTitle"/>
          </p:nvPr>
        </p:nvSpPr>
        <p:spPr>
          <a:xfrm>
            <a:off x="1069925" y="3861237"/>
            <a:ext cx="22962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2" name="Google Shape;42;p21"/>
          <p:cNvSpPr txBox="1"/>
          <p:nvPr>
            <p:ph idx="9" type="title"/>
          </p:nvPr>
        </p:nvSpPr>
        <p:spPr>
          <a:xfrm>
            <a:off x="3658992" y="3127126"/>
            <a:ext cx="581700" cy="581700"/>
          </a:xfrm>
          <a:prstGeom prst="rect">
            <a:avLst/>
          </a:prstGeom>
          <a:solidFill>
            <a:srgbClr val="9B97E1">
              <a:alpha val="12549"/>
            </a:srgbClr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" name="Google Shape;43;p21"/>
          <p:cNvSpPr txBox="1"/>
          <p:nvPr>
            <p:ph idx="13" type="subTitle"/>
          </p:nvPr>
        </p:nvSpPr>
        <p:spPr>
          <a:xfrm>
            <a:off x="3561150" y="3861237"/>
            <a:ext cx="22962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" name="Google Shape;44;p21"/>
          <p:cNvSpPr txBox="1"/>
          <p:nvPr>
            <p:ph idx="14" type="title"/>
          </p:nvPr>
        </p:nvSpPr>
        <p:spPr>
          <a:xfrm>
            <a:off x="6150217" y="3127126"/>
            <a:ext cx="581700" cy="581700"/>
          </a:xfrm>
          <a:prstGeom prst="rect">
            <a:avLst/>
          </a:prstGeom>
          <a:solidFill>
            <a:srgbClr val="9B97E1">
              <a:alpha val="12549"/>
            </a:srgbClr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" name="Google Shape;45;p21"/>
          <p:cNvSpPr txBox="1"/>
          <p:nvPr>
            <p:ph idx="15" type="subTitle"/>
          </p:nvPr>
        </p:nvSpPr>
        <p:spPr>
          <a:xfrm>
            <a:off x="6052375" y="3861237"/>
            <a:ext cx="22962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24"/>
          <p:cNvGrpSpPr/>
          <p:nvPr/>
        </p:nvGrpSpPr>
        <p:grpSpPr>
          <a:xfrm>
            <a:off x="-5673724" y="-1100387"/>
            <a:ext cx="20491448" cy="8325650"/>
            <a:chOff x="-5673724" y="-1100387"/>
            <a:chExt cx="20491448" cy="8325650"/>
          </a:xfrm>
        </p:grpSpPr>
        <p:pic>
          <p:nvPicPr>
            <p:cNvPr id="48" name="Google Shape;48;p2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8085124" y="-1100387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49" name="Google Shape;49;p2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5673724" y="411663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8404064" y="3962347"/>
            <a:ext cx="1536176" cy="734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24"/>
          <p:cNvGrpSpPr/>
          <p:nvPr/>
        </p:nvGrpSpPr>
        <p:grpSpPr>
          <a:xfrm>
            <a:off x="-566932" y="-176233"/>
            <a:ext cx="10254725" cy="2768499"/>
            <a:chOff x="-566932" y="-176233"/>
            <a:chExt cx="10254725" cy="2768499"/>
          </a:xfrm>
        </p:grpSpPr>
        <p:pic>
          <p:nvPicPr>
            <p:cNvPr id="52" name="Google Shape;52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-2700000">
              <a:off x="-247672" y="1365281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-8100000">
              <a:off x="8723335" y="-119500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24"/>
          <p:cNvSpPr txBox="1"/>
          <p:nvPr>
            <p:ph type="title"/>
          </p:nvPr>
        </p:nvSpPr>
        <p:spPr>
          <a:xfrm>
            <a:off x="713225" y="521225"/>
            <a:ext cx="7717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" type="subTitle"/>
          </p:nvPr>
        </p:nvSpPr>
        <p:spPr>
          <a:xfrm>
            <a:off x="1163137" y="2391985"/>
            <a:ext cx="33063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6" name="Google Shape;56;p24"/>
          <p:cNvSpPr txBox="1"/>
          <p:nvPr>
            <p:ph idx="2" type="subTitle"/>
          </p:nvPr>
        </p:nvSpPr>
        <p:spPr>
          <a:xfrm>
            <a:off x="4903163" y="2391985"/>
            <a:ext cx="33063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7" name="Google Shape;57;p24"/>
          <p:cNvSpPr txBox="1"/>
          <p:nvPr>
            <p:ph idx="3" type="subTitle"/>
          </p:nvPr>
        </p:nvSpPr>
        <p:spPr>
          <a:xfrm>
            <a:off x="1163137" y="2802320"/>
            <a:ext cx="3306300" cy="13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4" type="subTitle"/>
          </p:nvPr>
        </p:nvSpPr>
        <p:spPr>
          <a:xfrm>
            <a:off x="4903162" y="2802320"/>
            <a:ext cx="3306300" cy="13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25"/>
          <p:cNvGrpSpPr/>
          <p:nvPr/>
        </p:nvGrpSpPr>
        <p:grpSpPr>
          <a:xfrm>
            <a:off x="-4697320" y="-3952864"/>
            <a:ext cx="19589259" cy="11702350"/>
            <a:chOff x="-4697320" y="-3952864"/>
            <a:chExt cx="19589259" cy="11702350"/>
          </a:xfrm>
        </p:grpSpPr>
        <p:pic>
          <p:nvPicPr>
            <p:cNvPr id="61" name="Google Shape;61;p2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-4697320" y="-3952864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62" name="Google Shape;62;p2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8159339" y="935886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grpSp>
        <p:nvGrpSpPr>
          <p:cNvPr id="63" name="Google Shape;63;p25"/>
          <p:cNvGrpSpPr/>
          <p:nvPr/>
        </p:nvGrpSpPr>
        <p:grpSpPr>
          <a:xfrm>
            <a:off x="2019600" y="-869644"/>
            <a:ext cx="6809596" cy="6835197"/>
            <a:chOff x="2019600" y="-869644"/>
            <a:chExt cx="6809596" cy="6835197"/>
          </a:xfrm>
        </p:grpSpPr>
        <p:pic>
          <p:nvPicPr>
            <p:cNvPr id="64" name="Google Shape;6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8100000">
              <a:off x="7864738" y="4738568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2700000">
              <a:off x="2338860" y="-812911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6" name="Google Shape;6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-992175" y="4013044"/>
            <a:ext cx="1536176" cy="7342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5"/>
          <p:cNvSpPr txBox="1"/>
          <p:nvPr>
            <p:ph type="title"/>
          </p:nvPr>
        </p:nvSpPr>
        <p:spPr>
          <a:xfrm>
            <a:off x="713225" y="521225"/>
            <a:ext cx="7717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" type="subTitle"/>
          </p:nvPr>
        </p:nvSpPr>
        <p:spPr>
          <a:xfrm>
            <a:off x="753725" y="2422917"/>
            <a:ext cx="24315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9" name="Google Shape;69;p25"/>
          <p:cNvSpPr txBox="1"/>
          <p:nvPr>
            <p:ph idx="2" type="subTitle"/>
          </p:nvPr>
        </p:nvSpPr>
        <p:spPr>
          <a:xfrm>
            <a:off x="753725" y="2798602"/>
            <a:ext cx="24315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3" type="subTitle"/>
          </p:nvPr>
        </p:nvSpPr>
        <p:spPr>
          <a:xfrm>
            <a:off x="3356250" y="2422917"/>
            <a:ext cx="24315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1" name="Google Shape;71;p25"/>
          <p:cNvSpPr txBox="1"/>
          <p:nvPr>
            <p:ph idx="4" type="subTitle"/>
          </p:nvPr>
        </p:nvSpPr>
        <p:spPr>
          <a:xfrm>
            <a:off x="3356250" y="2798602"/>
            <a:ext cx="24315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5" type="subTitle"/>
          </p:nvPr>
        </p:nvSpPr>
        <p:spPr>
          <a:xfrm>
            <a:off x="5958775" y="2422917"/>
            <a:ext cx="24315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3" name="Google Shape;73;p25"/>
          <p:cNvSpPr txBox="1"/>
          <p:nvPr>
            <p:ph idx="6" type="subTitle"/>
          </p:nvPr>
        </p:nvSpPr>
        <p:spPr>
          <a:xfrm>
            <a:off x="5958775" y="2798602"/>
            <a:ext cx="24315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26"/>
          <p:cNvGrpSpPr/>
          <p:nvPr/>
        </p:nvGrpSpPr>
        <p:grpSpPr>
          <a:xfrm>
            <a:off x="-4648473" y="-2179137"/>
            <a:ext cx="19540412" cy="11321350"/>
            <a:chOff x="-4648473" y="-2179137"/>
            <a:chExt cx="19540412" cy="11321350"/>
          </a:xfrm>
        </p:grpSpPr>
        <p:pic>
          <p:nvPicPr>
            <p:cNvPr id="76" name="Google Shape;76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4648473" y="2328613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77" name="Google Shape;77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8159339" y="-2179137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26"/>
          <p:cNvGrpSpPr/>
          <p:nvPr/>
        </p:nvGrpSpPr>
        <p:grpSpPr>
          <a:xfrm>
            <a:off x="1916046" y="-700005"/>
            <a:ext cx="7141750" cy="6567031"/>
            <a:chOff x="1964892" y="-700005"/>
            <a:chExt cx="7141750" cy="6567031"/>
          </a:xfrm>
        </p:grpSpPr>
        <p:pic>
          <p:nvPicPr>
            <p:cNvPr id="79" name="Google Shape;79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700000">
              <a:off x="8142184" y="-643272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8100000">
              <a:off x="2284152" y="4640041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1" name="Google Shape;8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92175" y="475220"/>
            <a:ext cx="1536176" cy="73429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6"/>
          <p:cNvSpPr txBox="1"/>
          <p:nvPr>
            <p:ph type="title"/>
          </p:nvPr>
        </p:nvSpPr>
        <p:spPr>
          <a:xfrm>
            <a:off x="713225" y="521225"/>
            <a:ext cx="7717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" type="subTitle"/>
          </p:nvPr>
        </p:nvSpPr>
        <p:spPr>
          <a:xfrm>
            <a:off x="1506885" y="1512156"/>
            <a:ext cx="2963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4" name="Google Shape;84;p26"/>
          <p:cNvSpPr txBox="1"/>
          <p:nvPr>
            <p:ph idx="2" type="subTitle"/>
          </p:nvPr>
        </p:nvSpPr>
        <p:spPr>
          <a:xfrm>
            <a:off x="1506893" y="1887840"/>
            <a:ext cx="29631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3" type="subTitle"/>
          </p:nvPr>
        </p:nvSpPr>
        <p:spPr>
          <a:xfrm>
            <a:off x="5283617" y="1512156"/>
            <a:ext cx="2963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6" name="Google Shape;86;p26"/>
          <p:cNvSpPr txBox="1"/>
          <p:nvPr>
            <p:ph idx="4" type="subTitle"/>
          </p:nvPr>
        </p:nvSpPr>
        <p:spPr>
          <a:xfrm>
            <a:off x="5283631" y="1887840"/>
            <a:ext cx="29631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26"/>
          <p:cNvSpPr txBox="1"/>
          <p:nvPr>
            <p:ph idx="5" type="subTitle"/>
          </p:nvPr>
        </p:nvSpPr>
        <p:spPr>
          <a:xfrm>
            <a:off x="1506869" y="3050925"/>
            <a:ext cx="2963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8" name="Google Shape;88;p26"/>
          <p:cNvSpPr txBox="1"/>
          <p:nvPr>
            <p:ph idx="6" type="subTitle"/>
          </p:nvPr>
        </p:nvSpPr>
        <p:spPr>
          <a:xfrm>
            <a:off x="1506893" y="3426609"/>
            <a:ext cx="29631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7" type="subTitle"/>
          </p:nvPr>
        </p:nvSpPr>
        <p:spPr>
          <a:xfrm>
            <a:off x="5283602" y="3050925"/>
            <a:ext cx="2963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0" name="Google Shape;90;p26"/>
          <p:cNvSpPr txBox="1"/>
          <p:nvPr>
            <p:ph idx="8" type="subTitle"/>
          </p:nvPr>
        </p:nvSpPr>
        <p:spPr>
          <a:xfrm>
            <a:off x="5283618" y="3426609"/>
            <a:ext cx="29631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3"/>
          <p:cNvGrpSpPr/>
          <p:nvPr/>
        </p:nvGrpSpPr>
        <p:grpSpPr>
          <a:xfrm flipH="1">
            <a:off x="-5715272" y="-2179137"/>
            <a:ext cx="19540412" cy="11321350"/>
            <a:chOff x="-4648473" y="-2179137"/>
            <a:chExt cx="19540412" cy="11321350"/>
          </a:xfrm>
        </p:grpSpPr>
        <p:pic>
          <p:nvPicPr>
            <p:cNvPr id="93" name="Google Shape;93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4648473" y="2328613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94" name="Google Shape;94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8159339" y="-2179137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pic>
        <p:nvPicPr>
          <p:cNvPr id="95" name="Google Shape;9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8632664" y="457147"/>
            <a:ext cx="1536176" cy="734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23"/>
          <p:cNvGrpSpPr/>
          <p:nvPr/>
        </p:nvGrpSpPr>
        <p:grpSpPr>
          <a:xfrm flipH="1">
            <a:off x="118868" y="-700005"/>
            <a:ext cx="7141750" cy="6530396"/>
            <a:chOff x="1964892" y="-700005"/>
            <a:chExt cx="7141750" cy="6530396"/>
          </a:xfrm>
        </p:grpSpPr>
        <p:pic>
          <p:nvPicPr>
            <p:cNvPr id="97" name="Google Shape;9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2700000">
              <a:off x="8142184" y="-643272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8100000">
              <a:off x="2284152" y="4603406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" name="Google Shape;99;p23"/>
          <p:cNvSpPr txBox="1"/>
          <p:nvPr>
            <p:ph type="title"/>
          </p:nvPr>
        </p:nvSpPr>
        <p:spPr>
          <a:xfrm>
            <a:off x="4183375" y="2664677"/>
            <a:ext cx="40950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0" name="Google Shape;100;p23"/>
          <p:cNvSpPr txBox="1"/>
          <p:nvPr>
            <p:ph idx="2" type="title"/>
          </p:nvPr>
        </p:nvSpPr>
        <p:spPr>
          <a:xfrm>
            <a:off x="7296400" y="1664925"/>
            <a:ext cx="981900" cy="938700"/>
          </a:xfrm>
          <a:prstGeom prst="rect">
            <a:avLst/>
          </a:prstGeom>
          <a:solidFill>
            <a:srgbClr val="9B97E1">
              <a:alpha val="12549"/>
            </a:srgbClr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01" name="Google Shape;101;p23"/>
          <p:cNvSpPr/>
          <p:nvPr>
            <p:ph idx="3" type="pic"/>
          </p:nvPr>
        </p:nvSpPr>
        <p:spPr>
          <a:xfrm flipH="1">
            <a:off x="1045579" y="913701"/>
            <a:ext cx="2916300" cy="33162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_1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32"/>
          <p:cNvGrpSpPr/>
          <p:nvPr/>
        </p:nvGrpSpPr>
        <p:grpSpPr>
          <a:xfrm>
            <a:off x="-5673724" y="-1100387"/>
            <a:ext cx="20491448" cy="8325650"/>
            <a:chOff x="-5673724" y="-1100387"/>
            <a:chExt cx="20491448" cy="8325650"/>
          </a:xfrm>
        </p:grpSpPr>
        <p:pic>
          <p:nvPicPr>
            <p:cNvPr id="104" name="Google Shape;104;p3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8085124" y="-1100387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105" name="Google Shape;105;p3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5673724" y="411663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pic>
        <p:nvPicPr>
          <p:cNvPr id="106" name="Google Shape;10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8404064" y="3962347"/>
            <a:ext cx="1536176" cy="734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32"/>
          <p:cNvGrpSpPr/>
          <p:nvPr/>
        </p:nvGrpSpPr>
        <p:grpSpPr>
          <a:xfrm>
            <a:off x="-566932" y="-176233"/>
            <a:ext cx="10254725" cy="2768499"/>
            <a:chOff x="-566932" y="-176233"/>
            <a:chExt cx="10254725" cy="2768499"/>
          </a:xfrm>
        </p:grpSpPr>
        <p:pic>
          <p:nvPicPr>
            <p:cNvPr id="108" name="Google Shape;108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-2700000">
              <a:off x="-247672" y="1365281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-8100000">
              <a:off x="8723335" y="-119500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32"/>
          <p:cNvSpPr txBox="1"/>
          <p:nvPr>
            <p:ph type="title"/>
          </p:nvPr>
        </p:nvSpPr>
        <p:spPr>
          <a:xfrm>
            <a:off x="713225" y="521225"/>
            <a:ext cx="7717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_1_3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27"/>
          <p:cNvGrpSpPr/>
          <p:nvPr/>
        </p:nvGrpSpPr>
        <p:grpSpPr>
          <a:xfrm flipH="1">
            <a:off x="-5715272" y="-2179137"/>
            <a:ext cx="19540412" cy="11321350"/>
            <a:chOff x="-4648473" y="-2179137"/>
            <a:chExt cx="19540412" cy="11321350"/>
          </a:xfrm>
        </p:grpSpPr>
        <p:pic>
          <p:nvPicPr>
            <p:cNvPr id="113" name="Google Shape;113;p2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4648473" y="2328613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114" name="Google Shape;114;p2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8159339" y="-2179137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pic>
        <p:nvPicPr>
          <p:cNvPr id="115" name="Google Shape;1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8632664" y="457147"/>
            <a:ext cx="1536176" cy="734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27"/>
          <p:cNvGrpSpPr/>
          <p:nvPr/>
        </p:nvGrpSpPr>
        <p:grpSpPr>
          <a:xfrm flipH="1">
            <a:off x="118868" y="-700005"/>
            <a:ext cx="7141750" cy="6530396"/>
            <a:chOff x="1964892" y="-700005"/>
            <a:chExt cx="7141750" cy="6530396"/>
          </a:xfrm>
        </p:grpSpPr>
        <p:pic>
          <p:nvPicPr>
            <p:cNvPr id="117" name="Google Shape;117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2700000">
              <a:off x="8142184" y="-643272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8100000">
              <a:off x="2284152" y="4603406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" name="Google Shape;119;p27"/>
          <p:cNvSpPr txBox="1"/>
          <p:nvPr>
            <p:ph type="title"/>
          </p:nvPr>
        </p:nvSpPr>
        <p:spPr>
          <a:xfrm>
            <a:off x="713225" y="521225"/>
            <a:ext cx="7717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idx="1" type="subTitle"/>
          </p:nvPr>
        </p:nvSpPr>
        <p:spPr>
          <a:xfrm>
            <a:off x="723677" y="1420100"/>
            <a:ext cx="25434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21" name="Google Shape;121;p27"/>
          <p:cNvSpPr txBox="1"/>
          <p:nvPr>
            <p:ph idx="2" type="subTitle"/>
          </p:nvPr>
        </p:nvSpPr>
        <p:spPr>
          <a:xfrm>
            <a:off x="723677" y="1795787"/>
            <a:ext cx="25434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idx="3" type="subTitle"/>
          </p:nvPr>
        </p:nvSpPr>
        <p:spPr>
          <a:xfrm>
            <a:off x="3300313" y="1420100"/>
            <a:ext cx="25434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23" name="Google Shape;123;p27"/>
          <p:cNvSpPr txBox="1"/>
          <p:nvPr>
            <p:ph idx="4" type="subTitle"/>
          </p:nvPr>
        </p:nvSpPr>
        <p:spPr>
          <a:xfrm>
            <a:off x="3300313" y="1795787"/>
            <a:ext cx="25434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" name="Google Shape;124;p27"/>
          <p:cNvSpPr txBox="1"/>
          <p:nvPr>
            <p:ph idx="5" type="subTitle"/>
          </p:nvPr>
        </p:nvSpPr>
        <p:spPr>
          <a:xfrm>
            <a:off x="5876950" y="1420100"/>
            <a:ext cx="25434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25" name="Google Shape;125;p27"/>
          <p:cNvSpPr txBox="1"/>
          <p:nvPr>
            <p:ph idx="6" type="subTitle"/>
          </p:nvPr>
        </p:nvSpPr>
        <p:spPr>
          <a:xfrm>
            <a:off x="5876950" y="1795787"/>
            <a:ext cx="25434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6" name="Google Shape;126;p27"/>
          <p:cNvSpPr txBox="1"/>
          <p:nvPr>
            <p:ph idx="7" type="subTitle"/>
          </p:nvPr>
        </p:nvSpPr>
        <p:spPr>
          <a:xfrm>
            <a:off x="723650" y="3019011"/>
            <a:ext cx="25434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27" name="Google Shape;127;p27"/>
          <p:cNvSpPr txBox="1"/>
          <p:nvPr>
            <p:ph idx="8" type="subTitle"/>
          </p:nvPr>
        </p:nvSpPr>
        <p:spPr>
          <a:xfrm>
            <a:off x="723650" y="3394697"/>
            <a:ext cx="25434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" name="Google Shape;128;p27"/>
          <p:cNvSpPr txBox="1"/>
          <p:nvPr>
            <p:ph idx="9" type="subTitle"/>
          </p:nvPr>
        </p:nvSpPr>
        <p:spPr>
          <a:xfrm>
            <a:off x="3300287" y="3019011"/>
            <a:ext cx="25434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29" name="Google Shape;129;p27"/>
          <p:cNvSpPr txBox="1"/>
          <p:nvPr>
            <p:ph idx="13" type="subTitle"/>
          </p:nvPr>
        </p:nvSpPr>
        <p:spPr>
          <a:xfrm>
            <a:off x="3300287" y="3394697"/>
            <a:ext cx="25434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0" name="Google Shape;130;p27"/>
          <p:cNvSpPr txBox="1"/>
          <p:nvPr>
            <p:ph idx="14" type="subTitle"/>
          </p:nvPr>
        </p:nvSpPr>
        <p:spPr>
          <a:xfrm>
            <a:off x="5876923" y="3019011"/>
            <a:ext cx="25434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idx="15" type="subTitle"/>
          </p:nvPr>
        </p:nvSpPr>
        <p:spPr>
          <a:xfrm>
            <a:off x="5876923" y="3394697"/>
            <a:ext cx="25434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30"/>
          <p:cNvGrpSpPr/>
          <p:nvPr/>
        </p:nvGrpSpPr>
        <p:grpSpPr>
          <a:xfrm>
            <a:off x="-4497623" y="-3443479"/>
            <a:ext cx="6732600" cy="6972879"/>
            <a:chOff x="-4497623" y="-3443479"/>
            <a:chExt cx="6732600" cy="6972879"/>
          </a:xfrm>
        </p:grpSpPr>
        <p:pic>
          <p:nvPicPr>
            <p:cNvPr id="134" name="Google Shape;134;p3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4497623" y="-3443479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135" name="Google Shape;135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8100000">
              <a:off x="-463750" y="2302414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30"/>
          <p:cNvSpPr txBox="1"/>
          <p:nvPr>
            <p:ph hasCustomPrompt="1" type="title"/>
          </p:nvPr>
        </p:nvSpPr>
        <p:spPr>
          <a:xfrm>
            <a:off x="1090350" y="1779404"/>
            <a:ext cx="47310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7" name="Google Shape;137;p30"/>
          <p:cNvSpPr txBox="1"/>
          <p:nvPr>
            <p:ph idx="1" type="subTitle"/>
          </p:nvPr>
        </p:nvSpPr>
        <p:spPr>
          <a:xfrm>
            <a:off x="1090350" y="2851558"/>
            <a:ext cx="4731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_1_1_2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28"/>
          <p:cNvGrpSpPr/>
          <p:nvPr/>
        </p:nvGrpSpPr>
        <p:grpSpPr>
          <a:xfrm>
            <a:off x="-4648473" y="-2179137"/>
            <a:ext cx="19540412" cy="11321350"/>
            <a:chOff x="-4648473" y="-2179137"/>
            <a:chExt cx="19540412" cy="11321350"/>
          </a:xfrm>
        </p:grpSpPr>
        <p:pic>
          <p:nvPicPr>
            <p:cNvPr id="140" name="Google Shape;140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4648473" y="2328613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141" name="Google Shape;141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8159339" y="-2179137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28"/>
          <p:cNvGrpSpPr/>
          <p:nvPr/>
        </p:nvGrpSpPr>
        <p:grpSpPr>
          <a:xfrm>
            <a:off x="1916046" y="-700005"/>
            <a:ext cx="7141750" cy="6567031"/>
            <a:chOff x="1964892" y="-700005"/>
            <a:chExt cx="7141750" cy="6567031"/>
          </a:xfrm>
        </p:grpSpPr>
        <p:pic>
          <p:nvPicPr>
            <p:cNvPr id="143" name="Google Shape;143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700000">
              <a:off x="8142184" y="-643272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8100000">
              <a:off x="2284152" y="4640041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28"/>
          <p:cNvSpPr txBox="1"/>
          <p:nvPr>
            <p:ph idx="1" type="subTitle"/>
          </p:nvPr>
        </p:nvSpPr>
        <p:spPr>
          <a:xfrm>
            <a:off x="1381050" y="1583969"/>
            <a:ext cx="6226800" cy="15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2" type="subTitle"/>
          </p:nvPr>
        </p:nvSpPr>
        <p:spPr>
          <a:xfrm>
            <a:off x="1381050" y="3122350"/>
            <a:ext cx="6226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9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147" name="Google Shape;14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92175" y="1447747"/>
            <a:ext cx="1536176" cy="73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34"/>
          <p:cNvGrpSpPr/>
          <p:nvPr/>
        </p:nvGrpSpPr>
        <p:grpSpPr>
          <a:xfrm>
            <a:off x="-4648473" y="-2179137"/>
            <a:ext cx="19540412" cy="11321350"/>
            <a:chOff x="-4648473" y="-2179137"/>
            <a:chExt cx="19540412" cy="11321350"/>
          </a:xfrm>
        </p:grpSpPr>
        <p:pic>
          <p:nvPicPr>
            <p:cNvPr id="150" name="Google Shape;150;p3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4648473" y="2328613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151" name="Google Shape;151;p3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8159339" y="-2179137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grpSp>
        <p:nvGrpSpPr>
          <p:cNvPr id="152" name="Google Shape;152;p34"/>
          <p:cNvGrpSpPr/>
          <p:nvPr/>
        </p:nvGrpSpPr>
        <p:grpSpPr>
          <a:xfrm>
            <a:off x="1916046" y="-700005"/>
            <a:ext cx="7141750" cy="6567031"/>
            <a:chOff x="1964892" y="-700005"/>
            <a:chExt cx="7141750" cy="6567031"/>
          </a:xfrm>
        </p:grpSpPr>
        <p:pic>
          <p:nvPicPr>
            <p:cNvPr id="153" name="Google Shape;153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700000">
              <a:off x="8142184" y="-643272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8100000">
              <a:off x="2284152" y="4640041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5" name="Google Shape;15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92175" y="475220"/>
            <a:ext cx="1536176" cy="73429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4"/>
          <p:cNvSpPr txBox="1"/>
          <p:nvPr>
            <p:ph type="title"/>
          </p:nvPr>
        </p:nvSpPr>
        <p:spPr>
          <a:xfrm>
            <a:off x="138810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35"/>
          <p:cNvGrpSpPr/>
          <p:nvPr/>
        </p:nvGrpSpPr>
        <p:grpSpPr>
          <a:xfrm>
            <a:off x="-4697320" y="-3952864"/>
            <a:ext cx="19589259" cy="11702350"/>
            <a:chOff x="-4697320" y="-3952864"/>
            <a:chExt cx="19589259" cy="11702350"/>
          </a:xfrm>
        </p:grpSpPr>
        <p:pic>
          <p:nvPicPr>
            <p:cNvPr id="159" name="Google Shape;159;p3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-4697320" y="-3952864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160" name="Google Shape;160;p3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8159339" y="935886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grpSp>
        <p:nvGrpSpPr>
          <p:cNvPr id="161" name="Google Shape;161;p35"/>
          <p:cNvGrpSpPr/>
          <p:nvPr/>
        </p:nvGrpSpPr>
        <p:grpSpPr>
          <a:xfrm>
            <a:off x="2019600" y="-869644"/>
            <a:ext cx="6809596" cy="6835197"/>
            <a:chOff x="2019600" y="-869644"/>
            <a:chExt cx="6809596" cy="6835197"/>
          </a:xfrm>
        </p:grpSpPr>
        <p:pic>
          <p:nvPicPr>
            <p:cNvPr id="162" name="Google Shape;162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8100000">
              <a:off x="7864738" y="4738568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2700000">
              <a:off x="2338860" y="-812911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4" name="Google Shape;16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-992175" y="4013044"/>
            <a:ext cx="1536176" cy="73429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5"/>
          <p:cNvSpPr txBox="1"/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6" name="Google Shape;166;p35"/>
          <p:cNvSpPr txBox="1"/>
          <p:nvPr>
            <p:ph idx="1" type="subTitle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6"/>
          <p:cNvSpPr/>
          <p:nvPr>
            <p:ph idx="2" type="pic"/>
          </p:nvPr>
        </p:nvSpPr>
        <p:spPr>
          <a:xfrm>
            <a:off x="-27600" y="-35400"/>
            <a:ext cx="9199200" cy="52143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6"/>
          <p:cNvSpPr txBox="1"/>
          <p:nvPr>
            <p:ph type="title"/>
          </p:nvPr>
        </p:nvSpPr>
        <p:spPr>
          <a:xfrm>
            <a:off x="713225" y="521225"/>
            <a:ext cx="7717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4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38"/>
          <p:cNvGrpSpPr/>
          <p:nvPr/>
        </p:nvGrpSpPr>
        <p:grpSpPr>
          <a:xfrm>
            <a:off x="-4562998" y="-2179137"/>
            <a:ext cx="19150137" cy="10906150"/>
            <a:chOff x="-4562998" y="-2179137"/>
            <a:chExt cx="19150137" cy="10906150"/>
          </a:xfrm>
        </p:grpSpPr>
        <p:pic>
          <p:nvPicPr>
            <p:cNvPr id="173" name="Google Shape;173;p3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4562998" y="1913413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174" name="Google Shape;174;p3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7854539" y="-2179137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pic>
        <p:nvPicPr>
          <p:cNvPr id="175" name="Google Shape;17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92175" y="368736"/>
            <a:ext cx="1536176" cy="734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38"/>
          <p:cNvGrpSpPr/>
          <p:nvPr/>
        </p:nvGrpSpPr>
        <p:grpSpPr>
          <a:xfrm>
            <a:off x="1964892" y="-614525"/>
            <a:ext cx="7141750" cy="6444916"/>
            <a:chOff x="1964892" y="-614525"/>
            <a:chExt cx="7141750" cy="6444916"/>
          </a:xfrm>
        </p:grpSpPr>
        <p:pic>
          <p:nvPicPr>
            <p:cNvPr id="177" name="Google Shape;177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2700000">
              <a:off x="8142184" y="-557792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8100000">
              <a:off x="2284152" y="4603406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4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39"/>
          <p:cNvGrpSpPr/>
          <p:nvPr/>
        </p:nvGrpSpPr>
        <p:grpSpPr>
          <a:xfrm>
            <a:off x="-4497623" y="-3443479"/>
            <a:ext cx="13440852" cy="14115529"/>
            <a:chOff x="-4497623" y="-3443479"/>
            <a:chExt cx="13440852" cy="14115529"/>
          </a:xfrm>
        </p:grpSpPr>
        <p:pic>
          <p:nvPicPr>
            <p:cNvPr id="181" name="Google Shape;181;p3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4497623" y="-3443479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  <p:pic>
          <p:nvPicPr>
            <p:cNvPr id="182" name="Google Shape;182;p3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210629" y="3858450"/>
              <a:ext cx="6732600" cy="6813600"/>
            </a:xfrm>
            <a:prstGeom prst="diamond">
              <a:avLst/>
            </a:prstGeom>
            <a:noFill/>
            <a:ln>
              <a:noFill/>
            </a:ln>
          </p:spPr>
        </p:pic>
      </p:grpSp>
      <p:pic>
        <p:nvPicPr>
          <p:cNvPr id="183" name="Google Shape;1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2264" y="-348950"/>
            <a:ext cx="4929803" cy="3381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39"/>
          <p:cNvGrpSpPr/>
          <p:nvPr/>
        </p:nvGrpSpPr>
        <p:grpSpPr>
          <a:xfrm>
            <a:off x="-783010" y="2245681"/>
            <a:ext cx="7983160" cy="2388671"/>
            <a:chOff x="-783010" y="2245681"/>
            <a:chExt cx="7983160" cy="2388671"/>
          </a:xfrm>
        </p:grpSpPr>
        <p:pic>
          <p:nvPicPr>
            <p:cNvPr id="185" name="Google Shape;185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-8100000">
              <a:off x="-463750" y="2302414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-2700000">
              <a:off x="6235692" y="3407367"/>
              <a:ext cx="645199" cy="11702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713225" y="521225"/>
            <a:ext cx="7717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  <a:defRPr b="0" i="0" sz="32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  <a:defRPr b="0" i="0" sz="32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  <a:defRPr b="0" i="0" sz="32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  <a:defRPr b="0" i="0" sz="32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  <a:defRPr b="0" i="0" sz="32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  <a:defRPr b="0" i="0" sz="32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  <a:defRPr b="0" i="0" sz="32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  <a:defRPr b="0" i="0" sz="32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  <a:defRPr b="0" i="0" sz="32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713225" y="1163707"/>
            <a:ext cx="7717500" cy="3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19.png"/><Relationship Id="rId5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OxtrrqnVvqhpUQxfiuCANxDRy4R3WZI9/view" TargetMode="External"/><Relationship Id="rId4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jp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9.jp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1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"/>
          <p:cNvSpPr txBox="1"/>
          <p:nvPr>
            <p:ph type="ctrTitle"/>
          </p:nvPr>
        </p:nvSpPr>
        <p:spPr>
          <a:xfrm>
            <a:off x="850834" y="569900"/>
            <a:ext cx="7241805" cy="18075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4000">
                <a:latin typeface="Calibri"/>
                <a:ea typeface="Calibri"/>
                <a:cs typeface="Calibri"/>
                <a:sym typeface="Calibri"/>
              </a:rPr>
              <a:t>PROYECTO </a:t>
            </a:r>
            <a:br>
              <a:rPr b="1" lang="en" sz="4000"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4000">
                <a:latin typeface="Calibri"/>
                <a:ea typeface="Calibri"/>
                <a:cs typeface="Calibri"/>
                <a:sym typeface="Calibri"/>
              </a:rPr>
              <a:t>“MI VISIÓN ACADÉMICA”</a:t>
            </a:r>
            <a:br>
              <a:rPr b="1" lang="en" sz="4000">
                <a:latin typeface="Calibri"/>
                <a:ea typeface="Calibri"/>
                <a:cs typeface="Calibri"/>
                <a:sym typeface="Calibri"/>
              </a:rPr>
            </a:br>
            <a:r>
              <a:rPr lang="en" sz="2800">
                <a:latin typeface="Calibri"/>
                <a:ea typeface="Calibri"/>
                <a:cs typeface="Calibri"/>
                <a:sym typeface="Calibri"/>
              </a:rPr>
              <a:t>Presentación final de capstone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5989866" y="93650"/>
            <a:ext cx="6732675" cy="6813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2264" y="-348950"/>
            <a:ext cx="4929803" cy="3381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1"/>
          <p:cNvGrpSpPr/>
          <p:nvPr/>
        </p:nvGrpSpPr>
        <p:grpSpPr>
          <a:xfrm>
            <a:off x="2941320" y="182880"/>
            <a:ext cx="3429000" cy="4866970"/>
            <a:chOff x="3803900" y="538898"/>
            <a:chExt cx="2304239" cy="3889252"/>
          </a:xfrm>
        </p:grpSpPr>
        <p:pic>
          <p:nvPicPr>
            <p:cNvPr id="195" name="Google Shape;195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03900" y="3693851"/>
              <a:ext cx="1536176" cy="7342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4571963" y="538898"/>
              <a:ext cx="1536176" cy="7342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7" name="Google Shape;19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2700000">
            <a:off x="8702417" y="3750580"/>
            <a:ext cx="645199" cy="1170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Icono&#10;&#10;El contenido generado por IA puede ser incorrecto." id="198" name="Google Shape;19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90769" y="2247354"/>
            <a:ext cx="2176272" cy="2176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"/>
          <p:cNvSpPr txBox="1"/>
          <p:nvPr/>
        </p:nvSpPr>
        <p:spPr>
          <a:xfrm>
            <a:off x="457200" y="3265346"/>
            <a:ext cx="3977639" cy="13940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351C75"/>
                </a:solidFill>
                <a:latin typeface="Open Sans"/>
                <a:ea typeface="Open Sans"/>
                <a:cs typeface="Open Sans"/>
                <a:sym typeface="Open Sans"/>
              </a:rPr>
              <a:t>Scrum Master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51C75"/>
                </a:solidFill>
                <a:latin typeface="Open Sans"/>
                <a:ea typeface="Open Sans"/>
                <a:cs typeface="Open Sans"/>
                <a:sym typeface="Open Sans"/>
              </a:rPr>
              <a:t>Responsable de la planificación y ejecución del proyecto, backend de la plataforma, coordinación del equipo de trabajo</a:t>
            </a:r>
            <a:endParaRPr/>
          </a:p>
        </p:txBody>
      </p:sp>
      <p:pic>
        <p:nvPicPr>
          <p:cNvPr id="204" name="Google Shape;204;p2" title="WhatsApp Image 2025-12-06 at 5.05.41 PM.jpeg"/>
          <p:cNvPicPr preferRelativeResize="0"/>
          <p:nvPr/>
        </p:nvPicPr>
        <p:blipFill rotWithShape="1">
          <a:blip r:embed="rId3">
            <a:alphaModFix/>
          </a:blip>
          <a:srcRect b="12825" l="0" r="0" t="12825"/>
          <a:stretch/>
        </p:blipFill>
        <p:spPr>
          <a:xfrm>
            <a:off x="1452091" y="1117555"/>
            <a:ext cx="1767900" cy="1754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05" name="Google Shape;205;p2"/>
          <p:cNvSpPr txBox="1"/>
          <p:nvPr/>
        </p:nvSpPr>
        <p:spPr>
          <a:xfrm>
            <a:off x="736646" y="484125"/>
            <a:ext cx="767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</a:pPr>
            <a:r>
              <a:rPr b="1" i="0" lang="en" sz="3600" u="none" cap="none" strike="noStrike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Integrantes </a:t>
            </a:r>
            <a:r>
              <a:rPr b="1" i="0" lang="en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proyecto</a:t>
            </a:r>
            <a:endParaRPr/>
          </a:p>
        </p:txBody>
      </p:sp>
      <p:sp>
        <p:nvSpPr>
          <p:cNvPr id="206" name="Google Shape;206;p2"/>
          <p:cNvSpPr txBox="1"/>
          <p:nvPr/>
        </p:nvSpPr>
        <p:spPr>
          <a:xfrm>
            <a:off x="641150" y="2584350"/>
            <a:ext cx="3562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A288E2"/>
                </a:solidFill>
                <a:latin typeface="Overpass Black"/>
                <a:ea typeface="Overpass Black"/>
                <a:cs typeface="Overpass Black"/>
                <a:sym typeface="Overpass Black"/>
              </a:rPr>
              <a:t>Diego Rios</a:t>
            </a:r>
            <a:endParaRPr b="1" i="0" sz="2400" u="none" cap="none" strike="noStrike">
              <a:solidFill>
                <a:srgbClr val="A288E2"/>
              </a:solidFill>
              <a:latin typeface="Overpass Black"/>
              <a:ea typeface="Overpass Black"/>
              <a:cs typeface="Overpass Black"/>
              <a:sym typeface="Overpass Black"/>
            </a:endParaRPr>
          </a:p>
        </p:txBody>
      </p:sp>
      <p:sp>
        <p:nvSpPr>
          <p:cNvPr id="207" name="Google Shape;207;p2"/>
          <p:cNvSpPr txBox="1"/>
          <p:nvPr/>
        </p:nvSpPr>
        <p:spPr>
          <a:xfrm>
            <a:off x="4709161" y="3101340"/>
            <a:ext cx="3977639" cy="197288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351C75"/>
                </a:solidFill>
                <a:latin typeface="Open Sans"/>
                <a:ea typeface="Open Sans"/>
                <a:cs typeface="Open Sans"/>
                <a:sym typeface="Open Sans"/>
              </a:rPr>
              <a:t>Product Owner</a:t>
            </a:r>
            <a:endParaRPr b="0" i="0" sz="1600" u="none" cap="none" strike="noStrike">
              <a:solidFill>
                <a:srgbClr val="351C7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51C75"/>
                </a:solidFill>
                <a:latin typeface="Open Sans"/>
                <a:ea typeface="Open Sans"/>
                <a:cs typeface="Open Sans"/>
                <a:sym typeface="Open Sans"/>
              </a:rPr>
              <a:t>Responsable del desarrollo del frontend, implementación de las funcionalidades usando Python, Django, además de los registros de “Dailys” y el plan de pruebas</a:t>
            </a:r>
            <a:endParaRPr/>
          </a:p>
        </p:txBody>
      </p:sp>
      <p:pic>
        <p:nvPicPr>
          <p:cNvPr id="208" name="Google Shape;208;p2" title="Diseño sin título (4).png"/>
          <p:cNvPicPr preferRelativeResize="0"/>
          <p:nvPr/>
        </p:nvPicPr>
        <p:blipFill rotWithShape="1">
          <a:blip r:embed="rId4">
            <a:alphaModFix/>
          </a:blip>
          <a:srcRect b="89" l="0" r="0" t="89"/>
          <a:stretch/>
        </p:blipFill>
        <p:spPr>
          <a:xfrm>
            <a:off x="5699010" y="1117555"/>
            <a:ext cx="1767900" cy="1664100"/>
          </a:xfrm>
          <a:prstGeom prst="ellipse">
            <a:avLst/>
          </a:prstGeom>
          <a:solidFill>
            <a:srgbClr val="724BD6"/>
          </a:solidFill>
          <a:ln>
            <a:noFill/>
          </a:ln>
        </p:spPr>
      </p:pic>
      <p:sp>
        <p:nvSpPr>
          <p:cNvPr id="209" name="Google Shape;209;p2"/>
          <p:cNvSpPr txBox="1"/>
          <p:nvPr/>
        </p:nvSpPr>
        <p:spPr>
          <a:xfrm>
            <a:off x="5001025" y="2584350"/>
            <a:ext cx="34479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A288E2"/>
                </a:solidFill>
                <a:latin typeface="Overpass Black"/>
                <a:ea typeface="Overpass Black"/>
                <a:cs typeface="Overpass Black"/>
                <a:sym typeface="Overpass Black"/>
              </a:rPr>
              <a:t>Geraldine Bastias</a:t>
            </a:r>
            <a:endParaRPr b="1" i="0" sz="2400" u="none" cap="none" strike="noStrike">
              <a:solidFill>
                <a:srgbClr val="A288E2"/>
              </a:solidFill>
              <a:latin typeface="Overpass Black"/>
              <a:ea typeface="Overpass Black"/>
              <a:cs typeface="Overpass Black"/>
              <a:sym typeface="Overpass Black"/>
            </a:endParaRPr>
          </a:p>
        </p:txBody>
      </p:sp>
      <p:sp>
        <p:nvSpPr>
          <p:cNvPr id="210" name="Google Shape;210;p2"/>
          <p:cNvSpPr txBox="1"/>
          <p:nvPr/>
        </p:nvSpPr>
        <p:spPr>
          <a:xfrm>
            <a:off x="98089" y="151893"/>
            <a:ext cx="7125672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2"/>
          <p:cNvCxnSpPr/>
          <p:nvPr/>
        </p:nvCxnSpPr>
        <p:spPr>
          <a:xfrm>
            <a:off x="-38100" y="449552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scuelaIT Duoc UC - Escuela de Informática y Telecomunicaciones Duoc UC - Duoc  UC | LinkedIn" id="212" name="Google Shape;212;p2"/>
          <p:cNvPicPr preferRelativeResize="0"/>
          <p:nvPr/>
        </p:nvPicPr>
        <p:blipFill rotWithShape="1">
          <a:blip r:embed="rId5">
            <a:alphaModFix/>
          </a:blip>
          <a:srcRect b="24365" l="0" r="0" t="0"/>
          <a:stretch/>
        </p:blipFill>
        <p:spPr>
          <a:xfrm>
            <a:off x="6301740" y="0"/>
            <a:ext cx="2842260" cy="48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"/>
          <p:cNvSpPr txBox="1"/>
          <p:nvPr>
            <p:ph type="title"/>
          </p:nvPr>
        </p:nvSpPr>
        <p:spPr>
          <a:xfrm>
            <a:off x="713250" y="74900"/>
            <a:ext cx="77175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Video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3" title="video promociona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475" y="661150"/>
            <a:ext cx="7627099" cy="4335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"/>
          <p:cNvSpPr txBox="1"/>
          <p:nvPr>
            <p:ph type="title"/>
          </p:nvPr>
        </p:nvSpPr>
        <p:spPr>
          <a:xfrm>
            <a:off x="713225" y="521225"/>
            <a:ext cx="7717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 txBox="1"/>
          <p:nvPr>
            <p:ph idx="1" type="subTitle"/>
          </p:nvPr>
        </p:nvSpPr>
        <p:spPr>
          <a:xfrm>
            <a:off x="812617" y="1201794"/>
            <a:ext cx="33063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 txBox="1"/>
          <p:nvPr>
            <p:ph idx="2" type="subTitle"/>
          </p:nvPr>
        </p:nvSpPr>
        <p:spPr>
          <a:xfrm>
            <a:off x="4903162" y="1201794"/>
            <a:ext cx="33063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" sz="2400"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 txBox="1"/>
          <p:nvPr>
            <p:ph idx="3" type="subTitle"/>
          </p:nvPr>
        </p:nvSpPr>
        <p:spPr>
          <a:xfrm>
            <a:off x="500814" y="1701293"/>
            <a:ext cx="4071185" cy="32903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Rendimiento académico poco claro: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 No cuentan con un espacio que muestre su progreso de forma clara y analítica.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Retroalimentación docente limitada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: Poco personalizada y no queda registrada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Combinar calificaciones, preferencias del estudiante y orientación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: No existe una herramienta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Claridad sobre </a:t>
            </a: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qué</a:t>
            </a: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 habilidades reforzar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: Los alumnos no tienen claro que deben reforzar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Decisiones académicas basadas más en intuición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: Sin contar con los datos necesarios</a:t>
            </a:r>
            <a:endParaRPr/>
          </a:p>
          <a:p>
            <a:pPr indent="-2730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</p:txBody>
      </p:sp>
      <p:sp>
        <p:nvSpPr>
          <p:cNvPr id="227" name="Google Shape;227;p6"/>
          <p:cNvSpPr txBox="1"/>
          <p:nvPr>
            <p:ph idx="4" type="subTitle"/>
          </p:nvPr>
        </p:nvSpPr>
        <p:spPr>
          <a:xfrm>
            <a:off x="4773735" y="1634068"/>
            <a:ext cx="4243265" cy="33575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Crear una plataforma web educativa que:</a:t>
            </a: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Analiza calificaciones automáticamente: 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procesa y organiza el rendimiento del estudiante.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Genera gráficos comparativos: 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por área, asignatura y semestre.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Mejora la comunicación alumno–docente: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 mediante retroalimentación personalizada.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Ofrece un test vocacional: 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para orientar intereses y preferencias.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Crea un informe integral con IA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Fortalezas y debilidades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Recomendaciones académicas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Sugerencias de recursos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Áreas laborales posibles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Consejos de mejora</a:t>
            </a:r>
            <a:endParaRPr/>
          </a:p>
          <a:p>
            <a:pPr indent="-21590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98089" y="151893"/>
            <a:ext cx="7125672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6"/>
          <p:cNvCxnSpPr/>
          <p:nvPr/>
        </p:nvCxnSpPr>
        <p:spPr>
          <a:xfrm>
            <a:off x="-38100" y="449552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scuelaIT Duoc UC - Escuela de Informática y Telecomunicaciones Duoc UC - Duoc  UC | LinkedIn" id="230" name="Google Shape;230;p6"/>
          <p:cNvPicPr preferRelativeResize="0"/>
          <p:nvPr/>
        </p:nvPicPr>
        <p:blipFill rotWithShape="1">
          <a:blip r:embed="rId3">
            <a:alphaModFix/>
          </a:blip>
          <a:srcRect b="24365" l="0" r="0" t="0"/>
          <a:stretch/>
        </p:blipFill>
        <p:spPr>
          <a:xfrm>
            <a:off x="6301740" y="0"/>
            <a:ext cx="2842260" cy="48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 txBox="1"/>
          <p:nvPr>
            <p:ph idx="1" type="subTitle"/>
          </p:nvPr>
        </p:nvSpPr>
        <p:spPr>
          <a:xfrm>
            <a:off x="516467" y="856583"/>
            <a:ext cx="3767666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1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0"/>
          <p:cNvSpPr txBox="1"/>
          <p:nvPr>
            <p:ph idx="2" type="subTitle"/>
          </p:nvPr>
        </p:nvSpPr>
        <p:spPr>
          <a:xfrm>
            <a:off x="516467" y="1244668"/>
            <a:ext cx="3767666" cy="3657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Desarrollar una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plataforma web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que entregue a los estudiantes un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análisis académico integral 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mediante gráficos, retroalimentación docente, test de intereses y un informe inteligente generado con IA, para apoyar la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toma de decisiones educativas y laborales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7" name="Google Shape;237;p40"/>
          <p:cNvSpPr txBox="1"/>
          <p:nvPr>
            <p:ph idx="3" type="subTitle"/>
          </p:nvPr>
        </p:nvSpPr>
        <p:spPr>
          <a:xfrm>
            <a:off x="4859867" y="858031"/>
            <a:ext cx="3767666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1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0"/>
          <p:cNvSpPr txBox="1"/>
          <p:nvPr>
            <p:ph idx="4" type="subTitle"/>
          </p:nvPr>
        </p:nvSpPr>
        <p:spPr>
          <a:xfrm>
            <a:off x="4859866" y="1244667"/>
            <a:ext cx="3852333" cy="36575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Carga automática de calificaciones: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mediante el certificado oficial de Duoc UC.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Rendimiento con gráficos: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por asignatura, área y semestre.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Solicitudes y respuestas de retroalimentación: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entre alumno y docente.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Test de intereses: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integrado al perfil del usuario.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IA analista educativa: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genera un reporte personalizado en PDF.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Historial evolutivo: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guarda todos los informes generados.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0"/>
          <p:cNvSpPr txBox="1"/>
          <p:nvPr/>
        </p:nvSpPr>
        <p:spPr>
          <a:xfrm>
            <a:off x="98089" y="151893"/>
            <a:ext cx="7125672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" name="Google Shape;240;p40"/>
          <p:cNvCxnSpPr/>
          <p:nvPr/>
        </p:nvCxnSpPr>
        <p:spPr>
          <a:xfrm>
            <a:off x="-38100" y="449552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scuelaIT Duoc UC - Escuela de Informática y Telecomunicaciones Duoc UC - Duoc  UC | LinkedIn" id="241" name="Google Shape;241;p40"/>
          <p:cNvPicPr preferRelativeResize="0"/>
          <p:nvPr/>
        </p:nvPicPr>
        <p:blipFill rotWithShape="1">
          <a:blip r:embed="rId3">
            <a:alphaModFix/>
          </a:blip>
          <a:srcRect b="24365" l="0" r="0" t="0"/>
          <a:stretch/>
        </p:blipFill>
        <p:spPr>
          <a:xfrm>
            <a:off x="6301740" y="0"/>
            <a:ext cx="2842260" cy="48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"/>
          <p:cNvSpPr txBox="1"/>
          <p:nvPr>
            <p:ph type="title"/>
          </p:nvPr>
        </p:nvSpPr>
        <p:spPr>
          <a:xfrm>
            <a:off x="457192" y="521225"/>
            <a:ext cx="7973533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 txBox="1"/>
          <p:nvPr>
            <p:ph idx="1" type="subTitle"/>
          </p:nvPr>
        </p:nvSpPr>
        <p:spPr>
          <a:xfrm>
            <a:off x="457192" y="1292021"/>
            <a:ext cx="4012793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2800">
                <a:latin typeface="Calibri"/>
                <a:ea typeface="Calibri"/>
                <a:cs typeface="Calibri"/>
                <a:sym typeface="Calibri"/>
              </a:rPr>
              <a:t>Alcances</a:t>
            </a:r>
            <a:endParaRPr b="1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 txBox="1"/>
          <p:nvPr>
            <p:ph idx="2" type="subTitle"/>
          </p:nvPr>
        </p:nvSpPr>
        <p:spPr>
          <a:xfrm>
            <a:off x="457200" y="1693100"/>
            <a:ext cx="4085700" cy="32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Desarrollar un MVP funcional 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con todas las características principales.</a:t>
            </a:r>
            <a:endParaRPr b="1" sz="1450">
              <a:highlight>
                <a:schemeClr val="accent4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Panel de estudiante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 con gráficos, test, retroalimentaciones y generación de informes.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Panel de docente 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con gestión completa de solicitudes y generación de retroalimentaciones.</a:t>
            </a:r>
            <a:endParaRPr b="1" sz="145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Integración de IA 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para informes generados desde los datos reales del usuario.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Despliegue 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en la nube mediante Vercel.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Almacenamiento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 en base de datos de Supabase.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Carga de asignaturas 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desde CSV con validación de formato.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>
            <p:ph idx="3" type="subTitle"/>
          </p:nvPr>
        </p:nvSpPr>
        <p:spPr>
          <a:xfrm>
            <a:off x="4674000" y="1292021"/>
            <a:ext cx="4012792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2800"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b="1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 txBox="1"/>
          <p:nvPr>
            <p:ph idx="4" type="subTitle"/>
          </p:nvPr>
        </p:nvSpPr>
        <p:spPr>
          <a:xfrm>
            <a:off x="4674008" y="1693105"/>
            <a:ext cx="4012792" cy="32090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Sin integración automática: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 requiere carga manual vía CSV y certificado.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IA avanzada pendiente: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 El modelo de IA puede tener limitaciones según el volumen de datos.</a:t>
            </a:r>
            <a:endParaRPr sz="14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Validación del Análisis: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 La precisión del análisis depende de la información proporcionada por el estudiante.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Se implementó un prototipo (MVP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): no es aún un sistema institucional.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98089" y="151893"/>
            <a:ext cx="7125672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8"/>
          <p:cNvCxnSpPr/>
          <p:nvPr/>
        </p:nvCxnSpPr>
        <p:spPr>
          <a:xfrm>
            <a:off x="-38100" y="449552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scuelaIT Duoc UC - Escuela de Informática y Telecomunicaciones Duoc UC - Duoc  UC | LinkedIn" id="253" name="Google Shape;253;p8"/>
          <p:cNvPicPr preferRelativeResize="0"/>
          <p:nvPr/>
        </p:nvPicPr>
        <p:blipFill rotWithShape="1">
          <a:blip r:embed="rId3">
            <a:alphaModFix/>
          </a:blip>
          <a:srcRect b="24365" l="0" r="0" t="0"/>
          <a:stretch/>
        </p:blipFill>
        <p:spPr>
          <a:xfrm>
            <a:off x="6301740" y="0"/>
            <a:ext cx="2842260" cy="48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"/>
          <p:cNvSpPr txBox="1"/>
          <p:nvPr>
            <p:ph type="title"/>
          </p:nvPr>
        </p:nvSpPr>
        <p:spPr>
          <a:xfrm>
            <a:off x="491066" y="521225"/>
            <a:ext cx="8221133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Metodología del desarrollo del proyecto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 txBox="1"/>
          <p:nvPr>
            <p:ph idx="1" type="subTitle"/>
          </p:nvPr>
        </p:nvSpPr>
        <p:spPr>
          <a:xfrm>
            <a:off x="626532" y="2106749"/>
            <a:ext cx="3488267" cy="72111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" sz="2000" u="sng">
                <a:latin typeface="Calibri"/>
                <a:ea typeface="Calibri"/>
                <a:cs typeface="Calibri"/>
                <a:sym typeface="Calibri"/>
              </a:rPr>
              <a:t>Metodología Tradicional </a:t>
            </a:r>
            <a:endParaRPr b="1"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" sz="2000" u="sng">
                <a:latin typeface="Calibri"/>
                <a:ea typeface="Calibri"/>
                <a:cs typeface="Calibri"/>
                <a:sym typeface="Calibri"/>
              </a:rPr>
              <a:t>(Inicio y Cierre del proyecto)</a:t>
            </a:r>
            <a:endParaRPr/>
          </a:p>
        </p:txBody>
      </p:sp>
      <p:sp>
        <p:nvSpPr>
          <p:cNvPr id="260" name="Google Shape;260;p7"/>
          <p:cNvSpPr txBox="1"/>
          <p:nvPr>
            <p:ph idx="2" type="subTitle"/>
          </p:nvPr>
        </p:nvSpPr>
        <p:spPr>
          <a:xfrm>
            <a:off x="626531" y="2827866"/>
            <a:ext cx="3420985" cy="20150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Fase inicial 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para la planificación del alcance, cronograma, posibles riesgos, costos y calidad.</a:t>
            </a:r>
            <a:br>
              <a:rPr lang="en" sz="1450">
                <a:latin typeface="Calibri"/>
                <a:ea typeface="Calibri"/>
                <a:cs typeface="Calibri"/>
                <a:sym typeface="Calibri"/>
              </a:rPr>
            </a:b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Fase final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 para la validación, entrega oficial y cierre administrativo</a:t>
            </a:r>
            <a:endParaRPr sz="14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 txBox="1"/>
          <p:nvPr>
            <p:ph idx="3" type="subTitle"/>
          </p:nvPr>
        </p:nvSpPr>
        <p:spPr>
          <a:xfrm>
            <a:off x="5029202" y="2106750"/>
            <a:ext cx="3488265" cy="72111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" sz="2000" u="sng">
                <a:latin typeface="Calibri"/>
                <a:ea typeface="Calibri"/>
                <a:cs typeface="Calibri"/>
                <a:sym typeface="Calibri"/>
              </a:rPr>
              <a:t>Metodología Ágil </a:t>
            </a:r>
            <a:endParaRPr b="1"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" sz="2000" u="sng">
                <a:latin typeface="Calibri"/>
                <a:ea typeface="Calibri"/>
                <a:cs typeface="Calibri"/>
                <a:sym typeface="Calibri"/>
              </a:rPr>
              <a:t>(Desarrollo)</a:t>
            </a:r>
            <a:endParaRPr b="1"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 txBox="1"/>
          <p:nvPr>
            <p:ph idx="4" type="subTitle"/>
          </p:nvPr>
        </p:nvSpPr>
        <p:spPr>
          <a:xfrm>
            <a:off x="5029202" y="2827866"/>
            <a:ext cx="3682997" cy="20150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Aplicada durante la </a:t>
            </a: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construcción del MVP.</a:t>
            </a:r>
            <a:br>
              <a:rPr b="1" lang="en" sz="1450">
                <a:latin typeface="Calibri"/>
                <a:ea typeface="Calibri"/>
                <a:cs typeface="Calibri"/>
                <a:sym typeface="Calibri"/>
              </a:rPr>
            </a:br>
            <a:endParaRPr b="1" sz="145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Trabajo en ciclos cortos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 con reuniones diarias, retrospectivas y demos incrementales.</a:t>
            </a:r>
            <a:br>
              <a:rPr lang="en" sz="1450">
                <a:latin typeface="Calibri"/>
                <a:ea typeface="Calibri"/>
                <a:cs typeface="Calibri"/>
                <a:sym typeface="Calibri"/>
              </a:rPr>
            </a:b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Flexibilidad y adaptación rápida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 a cambios y retroalimentación de usuarios.</a:t>
            </a:r>
            <a:endParaRPr/>
          </a:p>
        </p:txBody>
      </p:sp>
      <p:sp>
        <p:nvSpPr>
          <p:cNvPr id="263" name="Google Shape;263;p7"/>
          <p:cNvSpPr txBox="1"/>
          <p:nvPr>
            <p:ph idx="6" type="subTitle"/>
          </p:nvPr>
        </p:nvSpPr>
        <p:spPr>
          <a:xfrm>
            <a:off x="491066" y="1350702"/>
            <a:ext cx="7857067" cy="4733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Metodología Híbrido </a:t>
            </a: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teniendo en cuenta la combinación de metodologías Ágil y Tradicional.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 txBox="1"/>
          <p:nvPr/>
        </p:nvSpPr>
        <p:spPr>
          <a:xfrm>
            <a:off x="98089" y="151893"/>
            <a:ext cx="7125672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7"/>
          <p:cNvCxnSpPr/>
          <p:nvPr/>
        </p:nvCxnSpPr>
        <p:spPr>
          <a:xfrm>
            <a:off x="-38100" y="449552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scuelaIT Duoc UC - Escuela de Informática y Telecomunicaciones Duoc UC - Duoc  UC | LinkedIn" id="266" name="Google Shape;266;p7"/>
          <p:cNvPicPr preferRelativeResize="0"/>
          <p:nvPr/>
        </p:nvPicPr>
        <p:blipFill rotWithShape="1">
          <a:blip r:embed="rId3">
            <a:alphaModFix/>
          </a:blip>
          <a:srcRect b="24365" l="0" r="0" t="0"/>
          <a:stretch/>
        </p:blipFill>
        <p:spPr>
          <a:xfrm>
            <a:off x="6301740" y="0"/>
            <a:ext cx="2842260" cy="484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7" name="Google Shape;267;p7"/>
          <p:cNvCxnSpPr/>
          <p:nvPr/>
        </p:nvCxnSpPr>
        <p:spPr>
          <a:xfrm>
            <a:off x="491066" y="1763081"/>
            <a:ext cx="7857067" cy="0"/>
          </a:xfrm>
          <a:prstGeom prst="straightConnector1">
            <a:avLst/>
          </a:prstGeom>
          <a:noFill/>
          <a:ln cap="flat" cmpd="sng" w="19050">
            <a:solidFill>
              <a:srgbClr val="CFCDF9"/>
            </a:solidFill>
            <a:prstDash val="dash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5"/>
          <p:cNvPicPr preferRelativeResize="0"/>
          <p:nvPr/>
        </p:nvPicPr>
        <p:blipFill rotWithShape="1">
          <a:blip r:embed="rId3">
            <a:alphaModFix/>
          </a:blip>
          <a:srcRect b="21519" l="7717" r="-2989" t="0"/>
          <a:stretch/>
        </p:blipFill>
        <p:spPr>
          <a:xfrm>
            <a:off x="2919675" y="-348950"/>
            <a:ext cx="4696800" cy="2654100"/>
          </a:xfrm>
          <a:prstGeom prst="parallelogram">
            <a:avLst>
              <a:gd fmla="val 103379" name="adj"/>
            </a:avLst>
          </a:prstGeom>
          <a:noFill/>
          <a:ln>
            <a:noFill/>
          </a:ln>
        </p:spPr>
      </p:pic>
      <p:sp>
        <p:nvSpPr>
          <p:cNvPr id="273" name="Google Shape;273;p5"/>
          <p:cNvSpPr txBox="1"/>
          <p:nvPr/>
        </p:nvSpPr>
        <p:spPr>
          <a:xfrm>
            <a:off x="713225" y="521225"/>
            <a:ext cx="7717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</a:pPr>
            <a:r>
              <a:rPr b="1" i="0" lang="en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del proyecto</a:t>
            </a:r>
            <a:endParaRPr/>
          </a:p>
        </p:txBody>
      </p:sp>
      <p:sp>
        <p:nvSpPr>
          <p:cNvPr id="274" name="Google Shape;274;p5"/>
          <p:cNvSpPr txBox="1"/>
          <p:nvPr/>
        </p:nvSpPr>
        <p:spPr>
          <a:xfrm>
            <a:off x="98089" y="151893"/>
            <a:ext cx="7125672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p5"/>
          <p:cNvCxnSpPr/>
          <p:nvPr/>
        </p:nvCxnSpPr>
        <p:spPr>
          <a:xfrm>
            <a:off x="-38100" y="449552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scuelaIT Duoc UC - Escuela de Informática y Telecomunicaciones Duoc UC - Duoc  UC | LinkedIn" id="276" name="Google Shape;276;p5"/>
          <p:cNvPicPr preferRelativeResize="0"/>
          <p:nvPr/>
        </p:nvPicPr>
        <p:blipFill rotWithShape="1">
          <a:blip r:embed="rId4">
            <a:alphaModFix/>
          </a:blip>
          <a:srcRect b="24365" l="0" r="0" t="0"/>
          <a:stretch/>
        </p:blipFill>
        <p:spPr>
          <a:xfrm>
            <a:off x="6301740" y="0"/>
            <a:ext cx="2842260" cy="48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5"/>
          <p:cNvSpPr txBox="1"/>
          <p:nvPr>
            <p:ph idx="4294967295" type="subTitle"/>
          </p:nvPr>
        </p:nvSpPr>
        <p:spPr>
          <a:xfrm>
            <a:off x="539650" y="1496725"/>
            <a:ext cx="3488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" sz="2000" u="sng">
                <a:latin typeface="Calibri"/>
                <a:ea typeface="Calibri"/>
                <a:cs typeface="Calibri"/>
                <a:sym typeface="Calibri"/>
              </a:rPr>
              <a:t>Metodología Tradicional </a:t>
            </a:r>
            <a:endParaRPr/>
          </a:p>
        </p:txBody>
      </p:sp>
      <p:sp>
        <p:nvSpPr>
          <p:cNvPr id="278" name="Google Shape;278;p5"/>
          <p:cNvSpPr txBox="1"/>
          <p:nvPr>
            <p:ph idx="4294967295" type="subTitle"/>
          </p:nvPr>
        </p:nvSpPr>
        <p:spPr>
          <a:xfrm>
            <a:off x="4885448" y="1461175"/>
            <a:ext cx="3488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" sz="2000" u="sng">
                <a:latin typeface="Calibri"/>
                <a:ea typeface="Calibri"/>
                <a:cs typeface="Calibri"/>
                <a:sym typeface="Calibri"/>
              </a:rPr>
              <a:t>Metodología Ágil </a:t>
            </a:r>
            <a:endParaRPr b="1"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538" y="2305150"/>
            <a:ext cx="3130619" cy="26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9588" y="1884825"/>
            <a:ext cx="3860124" cy="320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41"/>
          <p:cNvPicPr preferRelativeResize="0"/>
          <p:nvPr/>
        </p:nvPicPr>
        <p:blipFill rotWithShape="1">
          <a:blip r:embed="rId3">
            <a:alphaModFix/>
          </a:blip>
          <a:srcRect b="21519" l="7717" r="-2989" t="0"/>
          <a:stretch/>
        </p:blipFill>
        <p:spPr>
          <a:xfrm>
            <a:off x="2919675" y="-348950"/>
            <a:ext cx="4696800" cy="2654100"/>
          </a:xfrm>
          <a:prstGeom prst="parallelogram">
            <a:avLst>
              <a:gd fmla="val 103379" name="adj"/>
            </a:avLst>
          </a:prstGeom>
          <a:noFill/>
          <a:ln>
            <a:noFill/>
          </a:ln>
        </p:spPr>
      </p:pic>
      <p:sp>
        <p:nvSpPr>
          <p:cNvPr id="286" name="Google Shape;286;p41"/>
          <p:cNvSpPr txBox="1"/>
          <p:nvPr/>
        </p:nvSpPr>
        <p:spPr>
          <a:xfrm>
            <a:off x="713225" y="521225"/>
            <a:ext cx="7717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</a:pPr>
            <a:r>
              <a:rPr b="1" i="0" lang="en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Costos del proyecto</a:t>
            </a:r>
            <a:endParaRPr/>
          </a:p>
        </p:txBody>
      </p:sp>
      <p:sp>
        <p:nvSpPr>
          <p:cNvPr id="287" name="Google Shape;287;p41"/>
          <p:cNvSpPr txBox="1"/>
          <p:nvPr/>
        </p:nvSpPr>
        <p:spPr>
          <a:xfrm>
            <a:off x="98089" y="151893"/>
            <a:ext cx="7125672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41"/>
          <p:cNvCxnSpPr/>
          <p:nvPr/>
        </p:nvCxnSpPr>
        <p:spPr>
          <a:xfrm>
            <a:off x="-38100" y="449552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scuelaIT Duoc UC - Escuela de Informática y Telecomunicaciones Duoc UC - Duoc  UC | LinkedIn" id="289" name="Google Shape;289;p41"/>
          <p:cNvPicPr preferRelativeResize="0"/>
          <p:nvPr/>
        </p:nvPicPr>
        <p:blipFill rotWithShape="1">
          <a:blip r:embed="rId4">
            <a:alphaModFix/>
          </a:blip>
          <a:srcRect b="24365" l="0" r="0" t="0"/>
          <a:stretch/>
        </p:blipFill>
        <p:spPr>
          <a:xfrm>
            <a:off x="6301740" y="0"/>
            <a:ext cx="2842260" cy="48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1"/>
          <p:cNvSpPr txBox="1"/>
          <p:nvPr/>
        </p:nvSpPr>
        <p:spPr>
          <a:xfrm>
            <a:off x="137363" y="1391500"/>
            <a:ext cx="37347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presupuesto oficial del proyecto: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$21.891.100 CLP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Costos anuales de operación + mantenimiento: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$5.809.200/año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 total 5 años: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$50.937.100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Rentabilidad esperada: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50%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SaaS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educativo escalable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Crecimiento anual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adopción del sistema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Precio de licencia sede (anual) 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$20.000.000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41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0975" y="1235981"/>
            <a:ext cx="5493025" cy="3574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/>
          <p:nvPr/>
        </p:nvSpPr>
        <p:spPr>
          <a:xfrm>
            <a:off x="713225" y="521225"/>
            <a:ext cx="7717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SemiBold"/>
              <a:buNone/>
            </a:pPr>
            <a:r>
              <a:rPr b="1" i="0" lang="en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</p:txBody>
      </p:sp>
      <p:sp>
        <p:nvSpPr>
          <p:cNvPr id="297" name="Google Shape;297;p14"/>
          <p:cNvSpPr txBox="1"/>
          <p:nvPr/>
        </p:nvSpPr>
        <p:spPr>
          <a:xfrm>
            <a:off x="98089" y="151893"/>
            <a:ext cx="7125672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" name="Google Shape;298;p14"/>
          <p:cNvCxnSpPr/>
          <p:nvPr/>
        </p:nvCxnSpPr>
        <p:spPr>
          <a:xfrm>
            <a:off x="-38100" y="449552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scuelaIT Duoc UC - Escuela de Informática y Telecomunicaciones Duoc UC - Duoc  UC | LinkedIn" id="299" name="Google Shape;299;p14"/>
          <p:cNvPicPr preferRelativeResize="0"/>
          <p:nvPr/>
        </p:nvPicPr>
        <p:blipFill rotWithShape="1">
          <a:blip r:embed="rId3">
            <a:alphaModFix/>
          </a:blip>
          <a:srcRect b="24365" l="0" r="0" t="0"/>
          <a:stretch/>
        </p:blipFill>
        <p:spPr>
          <a:xfrm>
            <a:off x="6301740" y="0"/>
            <a:ext cx="2842260" cy="48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4" title="UML (1).jpg"/>
          <p:cNvPicPr preferRelativeResize="0"/>
          <p:nvPr/>
        </p:nvPicPr>
        <p:blipFill rotWithShape="1">
          <a:blip r:embed="rId4">
            <a:alphaModFix/>
          </a:blip>
          <a:srcRect b="0" l="15516" r="16185" t="590"/>
          <a:stretch/>
        </p:blipFill>
        <p:spPr>
          <a:xfrm>
            <a:off x="2328333" y="1133743"/>
            <a:ext cx="4504267" cy="4081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2"/>
          <p:cNvSpPr txBox="1"/>
          <p:nvPr>
            <p:ph type="title"/>
          </p:nvPr>
        </p:nvSpPr>
        <p:spPr>
          <a:xfrm>
            <a:off x="713250" y="287950"/>
            <a:ext cx="7717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2"/>
          <p:cNvSpPr txBox="1"/>
          <p:nvPr/>
        </p:nvSpPr>
        <p:spPr>
          <a:xfrm>
            <a:off x="98089" y="151893"/>
            <a:ext cx="71256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42"/>
          <p:cNvCxnSpPr/>
          <p:nvPr/>
        </p:nvCxnSpPr>
        <p:spPr>
          <a:xfrm>
            <a:off x="-38100" y="449552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scuelaIT Duoc UC - Escuela de Informática y Telecomunicaciones Duoc UC - Duoc  UC | LinkedIn" id="308" name="Google Shape;308;p42"/>
          <p:cNvPicPr preferRelativeResize="0"/>
          <p:nvPr/>
        </p:nvPicPr>
        <p:blipFill rotWithShape="1">
          <a:blip r:embed="rId3">
            <a:alphaModFix/>
          </a:blip>
          <a:srcRect b="24365" l="0" r="0" t="0"/>
          <a:stretch/>
        </p:blipFill>
        <p:spPr>
          <a:xfrm>
            <a:off x="6301740" y="0"/>
            <a:ext cx="2842260" cy="48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2"/>
          <p:cNvPicPr preferRelativeResize="0"/>
          <p:nvPr/>
        </p:nvPicPr>
        <p:blipFill rotWithShape="1">
          <a:blip r:embed="rId4">
            <a:alphaModFix/>
          </a:blip>
          <a:srcRect b="4003" l="8218" r="17071" t="0"/>
          <a:stretch/>
        </p:blipFill>
        <p:spPr>
          <a:xfrm>
            <a:off x="1300175" y="869650"/>
            <a:ext cx="7113169" cy="427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"/>
          <p:cNvSpPr txBox="1"/>
          <p:nvPr>
            <p:ph type="title"/>
          </p:nvPr>
        </p:nvSpPr>
        <p:spPr>
          <a:xfrm>
            <a:off x="713225" y="521225"/>
            <a:ext cx="7717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>
            <p:ph idx="1" type="subTitle"/>
          </p:nvPr>
        </p:nvSpPr>
        <p:spPr>
          <a:xfrm>
            <a:off x="723677" y="1420100"/>
            <a:ext cx="25434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Frontend</a:t>
            </a:r>
            <a:endParaRPr/>
          </a:p>
        </p:txBody>
      </p:sp>
      <p:sp>
        <p:nvSpPr>
          <p:cNvPr id="316" name="Google Shape;316;p9"/>
          <p:cNvSpPr txBox="1"/>
          <p:nvPr>
            <p:ph idx="2" type="subTitle"/>
          </p:nvPr>
        </p:nvSpPr>
        <p:spPr>
          <a:xfrm>
            <a:off x="723677" y="1795787"/>
            <a:ext cx="25434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/>
              <a:t>HTML5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/>
              <a:t>CSS3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/>
              <a:t>Bootstrap 5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/>
              <a:t>Chart.js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/>
              <a:t>SweetAlert2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/>
              <a:t>JavaScript</a:t>
            </a:r>
            <a:endParaRPr/>
          </a:p>
        </p:txBody>
      </p:sp>
      <p:sp>
        <p:nvSpPr>
          <p:cNvPr id="317" name="Google Shape;317;p9"/>
          <p:cNvSpPr txBox="1"/>
          <p:nvPr>
            <p:ph idx="3" type="subTitle"/>
          </p:nvPr>
        </p:nvSpPr>
        <p:spPr>
          <a:xfrm>
            <a:off x="3300313" y="1420100"/>
            <a:ext cx="25434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Backend</a:t>
            </a:r>
            <a:endParaRPr/>
          </a:p>
        </p:txBody>
      </p:sp>
      <p:sp>
        <p:nvSpPr>
          <p:cNvPr id="318" name="Google Shape;318;p9"/>
          <p:cNvSpPr txBox="1"/>
          <p:nvPr>
            <p:ph idx="4" type="subTitle"/>
          </p:nvPr>
        </p:nvSpPr>
        <p:spPr>
          <a:xfrm>
            <a:off x="3300313" y="1795787"/>
            <a:ext cx="25434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/>
              <a:t>Django(Python)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/>
              <a:t>Arquitectura MVT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/>
              <a:t>IA (Mistral 7B)</a:t>
            </a:r>
            <a:endParaRPr/>
          </a:p>
        </p:txBody>
      </p:sp>
      <p:sp>
        <p:nvSpPr>
          <p:cNvPr id="319" name="Google Shape;319;p9"/>
          <p:cNvSpPr txBox="1"/>
          <p:nvPr>
            <p:ph idx="5" type="subTitle"/>
          </p:nvPr>
        </p:nvSpPr>
        <p:spPr>
          <a:xfrm>
            <a:off x="5876950" y="1420100"/>
            <a:ext cx="25434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Deployment</a:t>
            </a:r>
            <a:endParaRPr/>
          </a:p>
        </p:txBody>
      </p:sp>
      <p:sp>
        <p:nvSpPr>
          <p:cNvPr id="320" name="Google Shape;320;p9"/>
          <p:cNvSpPr txBox="1"/>
          <p:nvPr>
            <p:ph idx="6" type="subTitle"/>
          </p:nvPr>
        </p:nvSpPr>
        <p:spPr>
          <a:xfrm>
            <a:off x="5876950" y="1795787"/>
            <a:ext cx="25434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/>
              <a:t>Vercel</a:t>
            </a:r>
            <a:endParaRPr/>
          </a:p>
        </p:txBody>
      </p:sp>
      <p:sp>
        <p:nvSpPr>
          <p:cNvPr id="321" name="Google Shape;321;p9"/>
          <p:cNvSpPr txBox="1"/>
          <p:nvPr>
            <p:ph idx="7" type="subTitle"/>
          </p:nvPr>
        </p:nvSpPr>
        <p:spPr>
          <a:xfrm>
            <a:off x="2028613" y="3567768"/>
            <a:ext cx="25434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Base de datos y servicios</a:t>
            </a:r>
            <a:endParaRPr/>
          </a:p>
        </p:txBody>
      </p:sp>
      <p:sp>
        <p:nvSpPr>
          <p:cNvPr id="322" name="Google Shape;322;p9"/>
          <p:cNvSpPr txBox="1"/>
          <p:nvPr>
            <p:ph idx="8" type="subTitle"/>
          </p:nvPr>
        </p:nvSpPr>
        <p:spPr>
          <a:xfrm>
            <a:off x="2028613" y="3943454"/>
            <a:ext cx="25434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/>
              <a:t>Supabase (PostgreSQL)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/>
              <a:t>API Supase Python Client</a:t>
            </a:r>
            <a:endParaRPr/>
          </a:p>
        </p:txBody>
      </p:sp>
      <p:sp>
        <p:nvSpPr>
          <p:cNvPr id="323" name="Google Shape;323;p9"/>
          <p:cNvSpPr txBox="1"/>
          <p:nvPr>
            <p:ph idx="9" type="subTitle"/>
          </p:nvPr>
        </p:nvSpPr>
        <p:spPr>
          <a:xfrm>
            <a:off x="4605250" y="3567768"/>
            <a:ext cx="25434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Herramientas de apoyo</a:t>
            </a:r>
            <a:endParaRPr/>
          </a:p>
        </p:txBody>
      </p:sp>
      <p:sp>
        <p:nvSpPr>
          <p:cNvPr id="324" name="Google Shape;324;p9"/>
          <p:cNvSpPr txBox="1"/>
          <p:nvPr>
            <p:ph idx="13" type="subTitle"/>
          </p:nvPr>
        </p:nvSpPr>
        <p:spPr>
          <a:xfrm>
            <a:off x="4605250" y="3943454"/>
            <a:ext cx="2543400" cy="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/>
              <a:t>GitHub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/>
              <a:t>Planner (Gestión Ágil)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/>
              <a:t>Miro (Diagramas)</a:t>
            </a:r>
            <a:endParaRPr/>
          </a:p>
        </p:txBody>
      </p:sp>
      <p:sp>
        <p:nvSpPr>
          <p:cNvPr id="325" name="Google Shape;325;p9"/>
          <p:cNvSpPr txBox="1"/>
          <p:nvPr/>
        </p:nvSpPr>
        <p:spPr>
          <a:xfrm>
            <a:off x="98089" y="151893"/>
            <a:ext cx="7125672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6" name="Google Shape;326;p9"/>
          <p:cNvCxnSpPr/>
          <p:nvPr/>
        </p:nvCxnSpPr>
        <p:spPr>
          <a:xfrm>
            <a:off x="-38100" y="449552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scuelaIT Duoc UC - Escuela de Informática y Telecomunicaciones Duoc UC - Duoc  UC | LinkedIn" id="327" name="Google Shape;327;p9"/>
          <p:cNvPicPr preferRelativeResize="0"/>
          <p:nvPr/>
        </p:nvPicPr>
        <p:blipFill rotWithShape="1">
          <a:blip r:embed="rId3">
            <a:alphaModFix/>
          </a:blip>
          <a:srcRect b="24365" l="0" r="0" t="0"/>
          <a:stretch/>
        </p:blipFill>
        <p:spPr>
          <a:xfrm>
            <a:off x="6301740" y="0"/>
            <a:ext cx="2842260" cy="48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2264" y="-348950"/>
            <a:ext cx="4929900" cy="3381900"/>
          </a:xfrm>
          <a:prstGeom prst="parallelogram">
            <a:avLst>
              <a:gd fmla="val 95209" name="adj"/>
            </a:avLst>
          </a:prstGeom>
          <a:noFill/>
          <a:ln>
            <a:noFill/>
          </a:ln>
        </p:spPr>
      </p:pic>
      <p:sp>
        <p:nvSpPr>
          <p:cNvPr id="333" name="Google Shape;333;p12"/>
          <p:cNvSpPr txBox="1"/>
          <p:nvPr>
            <p:ph type="title"/>
          </p:nvPr>
        </p:nvSpPr>
        <p:spPr>
          <a:xfrm>
            <a:off x="1077239" y="737178"/>
            <a:ext cx="7190050" cy="191444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Demostración del proyecto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440377" y="-555242"/>
            <a:ext cx="6732600" cy="6813600"/>
          </a:xfrm>
          <a:prstGeom prst="diamond">
            <a:avLst/>
          </a:prstGeom>
          <a:noFill/>
          <a:ln>
            <a:noFill/>
          </a:ln>
        </p:spPr>
      </p:pic>
      <p:grpSp>
        <p:nvGrpSpPr>
          <p:cNvPr id="335" name="Google Shape;335;p12"/>
          <p:cNvGrpSpPr/>
          <p:nvPr/>
        </p:nvGrpSpPr>
        <p:grpSpPr>
          <a:xfrm>
            <a:off x="2785533" y="171086"/>
            <a:ext cx="3800112" cy="5112113"/>
            <a:chOff x="3803900" y="538898"/>
            <a:chExt cx="2304239" cy="3889252"/>
          </a:xfrm>
        </p:grpSpPr>
        <p:pic>
          <p:nvPicPr>
            <p:cNvPr id="336" name="Google Shape;336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03900" y="3693851"/>
              <a:ext cx="1536176" cy="7342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" name="Google Shape;337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4571963" y="538898"/>
              <a:ext cx="1536176" cy="7342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8" name="Google Shape;33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2700000">
            <a:off x="8702417" y="3750580"/>
            <a:ext cx="645199" cy="11702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Icono&#10;&#10;El contenido generado por IA puede ser incorrecto." id="339" name="Google Shape;33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13492" y="2649613"/>
            <a:ext cx="2176272" cy="2176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3"/>
          <p:cNvSpPr txBox="1"/>
          <p:nvPr>
            <p:ph type="title"/>
          </p:nvPr>
        </p:nvSpPr>
        <p:spPr>
          <a:xfrm>
            <a:off x="713225" y="521225"/>
            <a:ext cx="7717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3"/>
          <p:cNvSpPr txBox="1"/>
          <p:nvPr>
            <p:ph idx="2" type="subTitle"/>
          </p:nvPr>
        </p:nvSpPr>
        <p:spPr>
          <a:xfrm>
            <a:off x="753725" y="1532467"/>
            <a:ext cx="3293792" cy="30898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MVP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 completamente </a:t>
            </a: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funcional.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Carga automática de notas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 desde certificado oficial.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Gráficos avanzados de rendimiento 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académico.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Comunicación efectiva entre estudiante y docente.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Test de intereses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 operativo y almacenado.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Generación de </a:t>
            </a: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informes inteligentes con IA.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Historial de informes evolucionando con el estudiante.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6" name="Google Shape;346;p43"/>
          <p:cNvSpPr txBox="1"/>
          <p:nvPr>
            <p:ph idx="6" type="subTitle"/>
          </p:nvPr>
        </p:nvSpPr>
        <p:spPr>
          <a:xfrm>
            <a:off x="4851400" y="1532468"/>
            <a:ext cx="3538876" cy="30898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Panel </a:t>
            </a: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docente 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robusto con </a:t>
            </a: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gestión de retroalimentaciones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Plataforma </a:t>
            </a: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desplegada en la nube.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Panel de administración para </a:t>
            </a: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gestionar asignaturas vía CSV.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Interfaz 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moderna, clara y </a:t>
            </a: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adaptada al usuario.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Autenticación y seguridad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 mediante sesiones.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Documentación </a:t>
            </a:r>
            <a:r>
              <a:rPr lang="en" sz="1450">
                <a:latin typeface="Calibri"/>
                <a:ea typeface="Calibri"/>
                <a:cs typeface="Calibri"/>
                <a:sym typeface="Calibri"/>
              </a:rPr>
              <a:t>completa y actualizada </a:t>
            </a:r>
            <a:r>
              <a:rPr b="1" lang="en" sz="1450">
                <a:latin typeface="Calibri"/>
                <a:ea typeface="Calibri"/>
                <a:cs typeface="Calibri"/>
                <a:sym typeface="Calibri"/>
              </a:rPr>
              <a:t>bajo metodología híbrida.</a:t>
            </a:r>
            <a:endParaRPr b="1" sz="1450"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7" name="Google Shape;347;p43"/>
          <p:cNvSpPr txBox="1"/>
          <p:nvPr/>
        </p:nvSpPr>
        <p:spPr>
          <a:xfrm>
            <a:off x="98089" y="151893"/>
            <a:ext cx="7125672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43"/>
          <p:cNvCxnSpPr/>
          <p:nvPr/>
        </p:nvCxnSpPr>
        <p:spPr>
          <a:xfrm>
            <a:off x="-38100" y="449552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scuelaIT Duoc UC - Escuela de Informática y Telecomunicaciones Duoc UC - Duoc  UC | LinkedIn" id="349" name="Google Shape;349;p43"/>
          <p:cNvPicPr preferRelativeResize="0"/>
          <p:nvPr/>
        </p:nvPicPr>
        <p:blipFill rotWithShape="1">
          <a:blip r:embed="rId3">
            <a:alphaModFix/>
          </a:blip>
          <a:srcRect b="24365" l="0" r="0" t="0"/>
          <a:stretch/>
        </p:blipFill>
        <p:spPr>
          <a:xfrm>
            <a:off x="6301740" y="0"/>
            <a:ext cx="2842260" cy="48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 txBox="1"/>
          <p:nvPr>
            <p:ph type="title"/>
          </p:nvPr>
        </p:nvSpPr>
        <p:spPr>
          <a:xfrm>
            <a:off x="410633" y="636018"/>
            <a:ext cx="8263466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Obstáculos</a:t>
            </a: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 presentados en el proyecto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4"/>
          <p:cNvSpPr txBox="1"/>
          <p:nvPr>
            <p:ph idx="2" type="subTitle"/>
          </p:nvPr>
        </p:nvSpPr>
        <p:spPr>
          <a:xfrm>
            <a:off x="1117600" y="1887839"/>
            <a:ext cx="6925733" cy="21422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Integración del certificado de notas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con formatos variados.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Tiempo limitado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para implementar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algoritmos más avanzados.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Integración de IA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avanzada 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para generar informes consistentes.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Limitaciones de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plan gratuito de hosting.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Falta de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integración directa con sistemas institucionales.</a:t>
            </a:r>
            <a:endParaRPr/>
          </a:p>
          <a:p>
            <a:pPr indent="-952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6" name="Google Shape;356;p44"/>
          <p:cNvSpPr txBox="1"/>
          <p:nvPr/>
        </p:nvSpPr>
        <p:spPr>
          <a:xfrm>
            <a:off x="98089" y="151893"/>
            <a:ext cx="7125672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" name="Google Shape;357;p44"/>
          <p:cNvCxnSpPr/>
          <p:nvPr/>
        </p:nvCxnSpPr>
        <p:spPr>
          <a:xfrm>
            <a:off x="-38100" y="449552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scuelaIT Duoc UC - Escuela de Informática y Telecomunicaciones Duoc UC - Duoc  UC | LinkedIn" id="358" name="Google Shape;358;p44"/>
          <p:cNvPicPr preferRelativeResize="0"/>
          <p:nvPr/>
        </p:nvPicPr>
        <p:blipFill rotWithShape="1">
          <a:blip r:embed="rId3">
            <a:alphaModFix/>
          </a:blip>
          <a:srcRect b="24365" l="0" r="0" t="0"/>
          <a:stretch/>
        </p:blipFill>
        <p:spPr>
          <a:xfrm>
            <a:off x="6301740" y="0"/>
            <a:ext cx="2842260" cy="48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5602764" y="2278809"/>
            <a:ext cx="4929803" cy="33818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0"/>
          <p:cNvSpPr txBox="1"/>
          <p:nvPr>
            <p:ph idx="1" type="subTitle"/>
          </p:nvPr>
        </p:nvSpPr>
        <p:spPr>
          <a:xfrm>
            <a:off x="1159933" y="787400"/>
            <a:ext cx="6951134" cy="11091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Icono&#10;&#10;El contenido generado por IA puede ser incorrecto." id="365" name="Google Shape;36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3864" y="1623483"/>
            <a:ext cx="2176272" cy="2176272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0"/>
          <p:cNvSpPr txBox="1"/>
          <p:nvPr/>
        </p:nvSpPr>
        <p:spPr>
          <a:xfrm>
            <a:off x="98089" y="151893"/>
            <a:ext cx="7125672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“MI VISIÓN ACADÉMICA”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" name="Google Shape;367;p10"/>
          <p:cNvCxnSpPr/>
          <p:nvPr/>
        </p:nvCxnSpPr>
        <p:spPr>
          <a:xfrm>
            <a:off x="-38100" y="449552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EscuelaIT Duoc UC - Escuela de Informática y Telecomunicaciones Duoc UC - Duoc  UC | LinkedIn" id="368" name="Google Shape;368;p10"/>
          <p:cNvPicPr preferRelativeResize="0"/>
          <p:nvPr/>
        </p:nvPicPr>
        <p:blipFill rotWithShape="1">
          <a:blip r:embed="rId5">
            <a:alphaModFix/>
          </a:blip>
          <a:srcRect b="24365" l="0" r="0" t="0"/>
          <a:stretch/>
        </p:blipFill>
        <p:spPr>
          <a:xfrm>
            <a:off x="6301740" y="0"/>
            <a:ext cx="2842260" cy="48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nthly Performance Review Meeting by Slidesgo">
  <a:themeElements>
    <a:clrScheme name="Simple Light">
      <a:dk1>
        <a:srgbClr val="351C75"/>
      </a:dk1>
      <a:lt1>
        <a:srgbClr val="FFFFFF"/>
      </a:lt1>
      <a:dk2>
        <a:srgbClr val="847CC3"/>
      </a:dk2>
      <a:lt2>
        <a:srgbClr val="9B97E1"/>
      </a:lt2>
      <a:accent1>
        <a:srgbClr val="D5D4FE"/>
      </a:accent1>
      <a:accent2>
        <a:srgbClr val="DADAFF"/>
      </a:accent2>
      <a:accent3>
        <a:srgbClr val="E7E4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1C7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